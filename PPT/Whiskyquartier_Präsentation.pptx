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6"/>
  </p:notesMasterIdLst>
  <p:sldIdLst>
    <p:sldId id="257" r:id="rId2"/>
    <p:sldId id="277" r:id="rId3"/>
    <p:sldId id="274" r:id="rId4"/>
    <p:sldId id="260" r:id="rId5"/>
    <p:sldId id="262" r:id="rId6"/>
    <p:sldId id="265" r:id="rId7"/>
    <p:sldId id="264" r:id="rId8"/>
    <p:sldId id="279" r:id="rId9"/>
    <p:sldId id="273" r:id="rId10"/>
    <p:sldId id="267" r:id="rId11"/>
    <p:sldId id="268" r:id="rId12"/>
    <p:sldId id="269" r:id="rId13"/>
    <p:sldId id="275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B"/>
    <a:srgbClr val="CCCCCC"/>
    <a:srgbClr val="E9CF91"/>
    <a:srgbClr val="987B98"/>
    <a:srgbClr val="8C77B5"/>
    <a:srgbClr val="B8898A"/>
    <a:srgbClr val="C0BCBE"/>
    <a:srgbClr val="D8C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76" autoAdjust="0"/>
  </p:normalViewPr>
  <p:slideViewPr>
    <p:cSldViewPr snapToGrid="0">
      <p:cViewPr varScale="1">
        <p:scale>
          <a:sx n="135" d="100"/>
          <a:sy n="135" d="100"/>
        </p:scale>
        <p:origin x="122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A37DAA-7B62-44E2-A9C0-9D600FCFBCD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B58B00-5BD4-401B-8F73-A56C291FCA7E}">
      <dgm:prSet custT="1"/>
      <dgm:spPr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Hypothese</a:t>
          </a:r>
          <a:r>
            <a:rPr lang="en-US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1 &amp; 2: </a:t>
          </a:r>
        </a:p>
        <a:p>
          <a:r>
            <a:rPr lang="en-US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NICHT </a:t>
          </a:r>
          <a:r>
            <a:rPr lang="en-US" sz="2000" b="1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bestätigt</a:t>
          </a:r>
          <a:r>
            <a:rPr lang="en-US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E755DE2F-5D34-4F23-B83C-195219F475B4}" type="parTrans" cxnId="{F11A7183-8B22-4B0A-902B-0C0038E81DF3}">
      <dgm:prSet/>
      <dgm:spPr/>
      <dgm:t>
        <a:bodyPr/>
        <a:lstStyle/>
        <a:p>
          <a:endParaRPr lang="en-US"/>
        </a:p>
      </dgm:t>
    </dgm:pt>
    <dgm:pt modelId="{F8BC494F-AB2F-4F90-ACC3-B9B8AD8845C9}" type="sibTrans" cxnId="{F11A7183-8B22-4B0A-902B-0C0038E81DF3}">
      <dgm:prSet/>
      <dgm:spPr/>
      <dgm:t>
        <a:bodyPr/>
        <a:lstStyle/>
        <a:p>
          <a:endParaRPr lang="en-US"/>
        </a:p>
      </dgm:t>
    </dgm:pt>
    <dgm:pt modelId="{8C5E4BE4-BB02-4287-BDB2-87C0609F94D3}">
      <dgm:prSet custT="1"/>
      <dgm:spPr>
        <a:solidFill>
          <a:schemeClr val="accent6">
            <a:lumMod val="40000"/>
            <a:lumOff val="6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Versandkosten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zeigen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Einfluss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auf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Abbruchrate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1F637FC2-383C-4DF0-BD58-061F72744E85}" type="parTrans" cxnId="{4ADE45B2-D0C4-4C07-8638-6FF64D38361E}">
      <dgm:prSet/>
      <dgm:spPr/>
      <dgm:t>
        <a:bodyPr/>
        <a:lstStyle/>
        <a:p>
          <a:endParaRPr lang="en-US"/>
        </a:p>
      </dgm:t>
    </dgm:pt>
    <dgm:pt modelId="{CC4A0BA3-0BDE-4D4D-8687-6E04CE671D31}" type="sibTrans" cxnId="{4ADE45B2-D0C4-4C07-8638-6FF64D38361E}">
      <dgm:prSet/>
      <dgm:spPr/>
      <dgm:t>
        <a:bodyPr/>
        <a:lstStyle/>
        <a:p>
          <a:endParaRPr lang="en-US"/>
        </a:p>
      </dgm:t>
    </dgm:pt>
    <dgm:pt modelId="{C332B5F1-F024-4F5A-8218-D48882E1040A}">
      <dgm:prSet custT="1"/>
      <dgm:spPr>
        <a:solidFill>
          <a:schemeClr val="accent5">
            <a:lumMod val="20000"/>
            <a:lumOff val="8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Werbeinvestment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zeigt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Einfluss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auf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Umsatz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3524860E-8995-4611-A802-7577766BC3A3}" type="parTrans" cxnId="{E131D854-358E-4E88-8B60-15A50C1B70BF}">
      <dgm:prSet/>
      <dgm:spPr/>
      <dgm:t>
        <a:bodyPr/>
        <a:lstStyle/>
        <a:p>
          <a:endParaRPr lang="en-US"/>
        </a:p>
      </dgm:t>
    </dgm:pt>
    <dgm:pt modelId="{DC0C0B09-C2DD-44DE-BAC8-393736B0343B}" type="sibTrans" cxnId="{E131D854-358E-4E88-8B60-15A50C1B70BF}">
      <dgm:prSet/>
      <dgm:spPr/>
      <dgm:t>
        <a:bodyPr/>
        <a:lstStyle/>
        <a:p>
          <a:endParaRPr lang="en-US"/>
        </a:p>
      </dgm:t>
    </dgm:pt>
    <dgm:pt modelId="{8EA3F4CA-4A65-425C-BF36-81A1EF633490}">
      <dgm:prSet custT="1"/>
      <dgm:spPr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Grund: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zu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wenig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valide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Daten </a:t>
          </a:r>
        </a:p>
      </dgm:t>
    </dgm:pt>
    <dgm:pt modelId="{BB1E39C5-9594-4C4F-94A3-3451F6798814}" type="parTrans" cxnId="{D6C39138-CAB0-4008-AAF9-E754A11409C4}">
      <dgm:prSet/>
      <dgm:spPr/>
      <dgm:t>
        <a:bodyPr/>
        <a:lstStyle/>
        <a:p>
          <a:endParaRPr lang="en-US"/>
        </a:p>
      </dgm:t>
    </dgm:pt>
    <dgm:pt modelId="{E9A5A822-7DB2-4F1F-A78C-EBFEB2E1B76A}" type="sibTrans" cxnId="{D6C39138-CAB0-4008-AAF9-E754A11409C4}">
      <dgm:prSet/>
      <dgm:spPr/>
      <dgm:t>
        <a:bodyPr/>
        <a:lstStyle/>
        <a:p>
          <a:endParaRPr lang="en-US"/>
        </a:p>
      </dgm:t>
    </dgm:pt>
    <dgm:pt modelId="{7786CD75-2D7D-422F-855B-F9F8B61AC37C}">
      <dgm:prSet custT="1"/>
      <dgm:spPr>
        <a:solidFill>
          <a:schemeClr val="tx2">
            <a:lumMod val="20000"/>
            <a:lumOff val="8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Hypothese</a:t>
          </a:r>
          <a:r>
            <a:rPr lang="en-US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3: </a:t>
          </a:r>
        </a:p>
        <a:p>
          <a:r>
            <a:rPr lang="en-US" sz="2000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BESTÄTIGT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C07457F3-FD98-4A34-9EF3-0B0E00AA8ABB}" type="parTrans" cxnId="{3B4AE9F3-20C5-438B-93B8-E08ADC382E46}">
      <dgm:prSet/>
      <dgm:spPr/>
      <dgm:t>
        <a:bodyPr/>
        <a:lstStyle/>
        <a:p>
          <a:endParaRPr lang="en-US"/>
        </a:p>
      </dgm:t>
    </dgm:pt>
    <dgm:pt modelId="{665F7DC8-A340-4A72-91EA-5A0F0BBFF7A0}" type="sibTrans" cxnId="{3B4AE9F3-20C5-438B-93B8-E08ADC382E46}">
      <dgm:prSet/>
      <dgm:spPr/>
      <dgm:t>
        <a:bodyPr/>
        <a:lstStyle/>
        <a:p>
          <a:endParaRPr lang="en-US"/>
        </a:p>
      </dgm:t>
    </dgm:pt>
    <dgm:pt modelId="{1C27455F-8D9B-484E-BD28-ACEFF955F55C}">
      <dgm:prSet custT="1"/>
      <dgm:spPr>
        <a:solidFill>
          <a:schemeClr val="accent3">
            <a:lumMod val="40000"/>
            <a:lumOff val="6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Rohdatenqualität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steht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wissenschaftlichen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Aussagen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entgegen</a:t>
          </a:r>
          <a:r>
            <a:rPr lang="en-US" sz="20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937B6581-4AE2-4922-A9E0-FEA31800E2C0}" type="parTrans" cxnId="{83A57094-4F4E-4274-A2A8-01D02ABB0159}">
      <dgm:prSet/>
      <dgm:spPr/>
      <dgm:t>
        <a:bodyPr/>
        <a:lstStyle/>
        <a:p>
          <a:endParaRPr lang="en-US"/>
        </a:p>
      </dgm:t>
    </dgm:pt>
    <dgm:pt modelId="{7F60BF77-9E78-4D4C-AF6B-AFC489114073}" type="sibTrans" cxnId="{83A57094-4F4E-4274-A2A8-01D02ABB0159}">
      <dgm:prSet/>
      <dgm:spPr/>
      <dgm:t>
        <a:bodyPr/>
        <a:lstStyle/>
        <a:p>
          <a:endParaRPr lang="en-US"/>
        </a:p>
      </dgm:t>
    </dgm:pt>
    <dgm:pt modelId="{F42073E8-B4F0-4F58-A73B-690E1FA07BA9}">
      <dgm:prSet/>
      <dgm:spPr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50800" dist="38100" algn="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b="1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Datenlimits</a:t>
          </a:r>
          <a:r>
            <a:rPr lang="en-US" b="1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: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  <a:p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Nur 5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Monate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(2024) + 8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Monate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(2025)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verwertbar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  <a:p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→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Zukunftsprognosen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möglich</a:t>
          </a:r>
          <a:r>
            <a:rPr lang="en-US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gm:t>
    </dgm:pt>
    <dgm:pt modelId="{76D1754D-5592-4196-B6DE-3E002BDEADBF}" type="parTrans" cxnId="{E22AE12B-022E-4AB8-B2ED-D826341A2305}">
      <dgm:prSet/>
      <dgm:spPr/>
      <dgm:t>
        <a:bodyPr/>
        <a:lstStyle/>
        <a:p>
          <a:endParaRPr lang="en-US"/>
        </a:p>
      </dgm:t>
    </dgm:pt>
    <dgm:pt modelId="{152607B3-0B1D-4029-9FBB-C16C7B2AB383}" type="sibTrans" cxnId="{E22AE12B-022E-4AB8-B2ED-D826341A2305}">
      <dgm:prSet/>
      <dgm:spPr/>
      <dgm:t>
        <a:bodyPr/>
        <a:lstStyle/>
        <a:p>
          <a:endParaRPr lang="en-US"/>
        </a:p>
      </dgm:t>
    </dgm:pt>
    <dgm:pt modelId="{40BED806-5C78-4CA4-922E-35E96398F148}" type="pres">
      <dgm:prSet presAssocID="{F6A37DAA-7B62-44E2-A9C0-9D600FCFBCDE}" presName="diagram" presStyleCnt="0">
        <dgm:presLayoutVars>
          <dgm:dir/>
          <dgm:resizeHandles val="exact"/>
        </dgm:presLayoutVars>
      </dgm:prSet>
      <dgm:spPr/>
    </dgm:pt>
    <dgm:pt modelId="{15F7A583-17AD-4C9B-A357-0D7198505C88}" type="pres">
      <dgm:prSet presAssocID="{C8B58B00-5BD4-401B-8F73-A56C291FCA7E}" presName="node" presStyleLbl="node1" presStyleIdx="0" presStyleCnt="7">
        <dgm:presLayoutVars>
          <dgm:bulletEnabled val="1"/>
        </dgm:presLayoutVars>
      </dgm:prSet>
      <dgm:spPr/>
    </dgm:pt>
    <dgm:pt modelId="{C8A89218-7810-475B-8D87-22B37B504A2F}" type="pres">
      <dgm:prSet presAssocID="{F8BC494F-AB2F-4F90-ACC3-B9B8AD8845C9}" presName="sibTrans" presStyleCnt="0"/>
      <dgm:spPr/>
    </dgm:pt>
    <dgm:pt modelId="{FD0B974D-5E3D-418C-8DD3-667A73282A1E}" type="pres">
      <dgm:prSet presAssocID="{8C5E4BE4-BB02-4287-BDB2-87C0609F94D3}" presName="node" presStyleLbl="node1" presStyleIdx="1" presStyleCnt="7">
        <dgm:presLayoutVars>
          <dgm:bulletEnabled val="1"/>
        </dgm:presLayoutVars>
      </dgm:prSet>
      <dgm:spPr/>
    </dgm:pt>
    <dgm:pt modelId="{1BEE2848-97F6-4445-BC3C-8F5E768769A3}" type="pres">
      <dgm:prSet presAssocID="{CC4A0BA3-0BDE-4D4D-8687-6E04CE671D31}" presName="sibTrans" presStyleCnt="0"/>
      <dgm:spPr/>
    </dgm:pt>
    <dgm:pt modelId="{E8449975-1B9F-42B0-886A-7859CAE23695}" type="pres">
      <dgm:prSet presAssocID="{C332B5F1-F024-4F5A-8218-D48882E1040A}" presName="node" presStyleLbl="node1" presStyleIdx="2" presStyleCnt="7">
        <dgm:presLayoutVars>
          <dgm:bulletEnabled val="1"/>
        </dgm:presLayoutVars>
      </dgm:prSet>
      <dgm:spPr/>
    </dgm:pt>
    <dgm:pt modelId="{8C2FC36F-D83A-4A15-AD15-68DEB97672D5}" type="pres">
      <dgm:prSet presAssocID="{DC0C0B09-C2DD-44DE-BAC8-393736B0343B}" presName="sibTrans" presStyleCnt="0"/>
      <dgm:spPr/>
    </dgm:pt>
    <dgm:pt modelId="{0AACD13F-D2E7-45D7-BD66-00C5D2217D28}" type="pres">
      <dgm:prSet presAssocID="{8EA3F4CA-4A65-425C-BF36-81A1EF633490}" presName="node" presStyleLbl="node1" presStyleIdx="3" presStyleCnt="7">
        <dgm:presLayoutVars>
          <dgm:bulletEnabled val="1"/>
        </dgm:presLayoutVars>
      </dgm:prSet>
      <dgm:spPr/>
    </dgm:pt>
    <dgm:pt modelId="{55434491-4C5B-4322-A180-42B00250AF51}" type="pres">
      <dgm:prSet presAssocID="{E9A5A822-7DB2-4F1F-A78C-EBFEB2E1B76A}" presName="sibTrans" presStyleCnt="0"/>
      <dgm:spPr/>
    </dgm:pt>
    <dgm:pt modelId="{A2FEC1C7-677E-4C93-B135-0E4D799E15AF}" type="pres">
      <dgm:prSet presAssocID="{7786CD75-2D7D-422F-855B-F9F8B61AC37C}" presName="node" presStyleLbl="node1" presStyleIdx="4" presStyleCnt="7">
        <dgm:presLayoutVars>
          <dgm:bulletEnabled val="1"/>
        </dgm:presLayoutVars>
      </dgm:prSet>
      <dgm:spPr/>
    </dgm:pt>
    <dgm:pt modelId="{AE1792A0-20F1-4C83-907F-59CC0771F167}" type="pres">
      <dgm:prSet presAssocID="{665F7DC8-A340-4A72-91EA-5A0F0BBFF7A0}" presName="sibTrans" presStyleCnt="0"/>
      <dgm:spPr/>
    </dgm:pt>
    <dgm:pt modelId="{C68E5590-917A-4FEE-BD10-019F7C4EBDD2}" type="pres">
      <dgm:prSet presAssocID="{1C27455F-8D9B-484E-BD28-ACEFF955F55C}" presName="node" presStyleLbl="node1" presStyleIdx="5" presStyleCnt="7">
        <dgm:presLayoutVars>
          <dgm:bulletEnabled val="1"/>
        </dgm:presLayoutVars>
      </dgm:prSet>
      <dgm:spPr/>
    </dgm:pt>
    <dgm:pt modelId="{AB89F763-D4C4-4DD4-8664-DD4453E754FC}" type="pres">
      <dgm:prSet presAssocID="{7F60BF77-9E78-4D4C-AF6B-AFC489114073}" presName="sibTrans" presStyleCnt="0"/>
      <dgm:spPr/>
    </dgm:pt>
    <dgm:pt modelId="{D1E51FD2-CB5C-4E87-B2A0-D4BADF9FC6E0}" type="pres">
      <dgm:prSet presAssocID="{F42073E8-B4F0-4F58-A73B-690E1FA07BA9}" presName="node" presStyleLbl="node1" presStyleIdx="6" presStyleCnt="7" custLinFactNeighborX="1181" custLinFactNeighborY="-420">
        <dgm:presLayoutVars>
          <dgm:bulletEnabled val="1"/>
        </dgm:presLayoutVars>
      </dgm:prSet>
      <dgm:spPr/>
    </dgm:pt>
  </dgm:ptLst>
  <dgm:cxnLst>
    <dgm:cxn modelId="{8C81DB0C-884E-4E87-8C26-C767D3E2ED02}" type="presOf" srcId="{8EA3F4CA-4A65-425C-BF36-81A1EF633490}" destId="{0AACD13F-D2E7-45D7-BD66-00C5D2217D28}" srcOrd="0" destOrd="0" presId="urn:microsoft.com/office/officeart/2005/8/layout/default"/>
    <dgm:cxn modelId="{FC775E14-7FFB-4333-8CD1-23503A6AEDCC}" type="presOf" srcId="{C332B5F1-F024-4F5A-8218-D48882E1040A}" destId="{E8449975-1B9F-42B0-886A-7859CAE23695}" srcOrd="0" destOrd="0" presId="urn:microsoft.com/office/officeart/2005/8/layout/default"/>
    <dgm:cxn modelId="{E22AE12B-022E-4AB8-B2ED-D826341A2305}" srcId="{F6A37DAA-7B62-44E2-A9C0-9D600FCFBCDE}" destId="{F42073E8-B4F0-4F58-A73B-690E1FA07BA9}" srcOrd="6" destOrd="0" parTransId="{76D1754D-5592-4196-B6DE-3E002BDEADBF}" sibTransId="{152607B3-0B1D-4029-9FBB-C16C7B2AB383}"/>
    <dgm:cxn modelId="{D6C39138-CAB0-4008-AAF9-E754A11409C4}" srcId="{F6A37DAA-7B62-44E2-A9C0-9D600FCFBCDE}" destId="{8EA3F4CA-4A65-425C-BF36-81A1EF633490}" srcOrd="3" destOrd="0" parTransId="{BB1E39C5-9594-4C4F-94A3-3451F6798814}" sibTransId="{E9A5A822-7DB2-4F1F-A78C-EBFEB2E1B76A}"/>
    <dgm:cxn modelId="{ED68EB44-C1FA-4D4D-91E0-F1B4EE49C037}" type="presOf" srcId="{F6A37DAA-7B62-44E2-A9C0-9D600FCFBCDE}" destId="{40BED806-5C78-4CA4-922E-35E96398F148}" srcOrd="0" destOrd="0" presId="urn:microsoft.com/office/officeart/2005/8/layout/default"/>
    <dgm:cxn modelId="{E131D854-358E-4E88-8B60-15A50C1B70BF}" srcId="{F6A37DAA-7B62-44E2-A9C0-9D600FCFBCDE}" destId="{C332B5F1-F024-4F5A-8218-D48882E1040A}" srcOrd="2" destOrd="0" parTransId="{3524860E-8995-4611-A802-7577766BC3A3}" sibTransId="{DC0C0B09-C2DD-44DE-BAC8-393736B0343B}"/>
    <dgm:cxn modelId="{7F65C77C-09C2-4CB5-BCCB-2C67CE3AA278}" type="presOf" srcId="{8C5E4BE4-BB02-4287-BDB2-87C0609F94D3}" destId="{FD0B974D-5E3D-418C-8DD3-667A73282A1E}" srcOrd="0" destOrd="0" presId="urn:microsoft.com/office/officeart/2005/8/layout/default"/>
    <dgm:cxn modelId="{F11A7183-8B22-4B0A-902B-0C0038E81DF3}" srcId="{F6A37DAA-7B62-44E2-A9C0-9D600FCFBCDE}" destId="{C8B58B00-5BD4-401B-8F73-A56C291FCA7E}" srcOrd="0" destOrd="0" parTransId="{E755DE2F-5D34-4F23-B83C-195219F475B4}" sibTransId="{F8BC494F-AB2F-4F90-ACC3-B9B8AD8845C9}"/>
    <dgm:cxn modelId="{83A57094-4F4E-4274-A2A8-01D02ABB0159}" srcId="{F6A37DAA-7B62-44E2-A9C0-9D600FCFBCDE}" destId="{1C27455F-8D9B-484E-BD28-ACEFF955F55C}" srcOrd="5" destOrd="0" parTransId="{937B6581-4AE2-4922-A9E0-FEA31800E2C0}" sibTransId="{7F60BF77-9E78-4D4C-AF6B-AFC489114073}"/>
    <dgm:cxn modelId="{4ADE45B2-D0C4-4C07-8638-6FF64D38361E}" srcId="{F6A37DAA-7B62-44E2-A9C0-9D600FCFBCDE}" destId="{8C5E4BE4-BB02-4287-BDB2-87C0609F94D3}" srcOrd="1" destOrd="0" parTransId="{1F637FC2-383C-4DF0-BD58-061F72744E85}" sibTransId="{CC4A0BA3-0BDE-4D4D-8687-6E04CE671D31}"/>
    <dgm:cxn modelId="{58E16CCE-FF26-4A25-A2C7-44E5D0067BB5}" type="presOf" srcId="{7786CD75-2D7D-422F-855B-F9F8B61AC37C}" destId="{A2FEC1C7-677E-4C93-B135-0E4D799E15AF}" srcOrd="0" destOrd="0" presId="urn:microsoft.com/office/officeart/2005/8/layout/default"/>
    <dgm:cxn modelId="{FB4D37DE-1501-4186-AEAF-57B977D010B3}" type="presOf" srcId="{1C27455F-8D9B-484E-BD28-ACEFF955F55C}" destId="{C68E5590-917A-4FEE-BD10-019F7C4EBDD2}" srcOrd="0" destOrd="0" presId="urn:microsoft.com/office/officeart/2005/8/layout/default"/>
    <dgm:cxn modelId="{2CF442E8-34BB-4C2D-BC9F-37DCA13AD821}" type="presOf" srcId="{C8B58B00-5BD4-401B-8F73-A56C291FCA7E}" destId="{15F7A583-17AD-4C9B-A357-0D7198505C88}" srcOrd="0" destOrd="0" presId="urn:microsoft.com/office/officeart/2005/8/layout/default"/>
    <dgm:cxn modelId="{3B4AE9F3-20C5-438B-93B8-E08ADC382E46}" srcId="{F6A37DAA-7B62-44E2-A9C0-9D600FCFBCDE}" destId="{7786CD75-2D7D-422F-855B-F9F8B61AC37C}" srcOrd="4" destOrd="0" parTransId="{C07457F3-FD98-4A34-9EF3-0B0E00AA8ABB}" sibTransId="{665F7DC8-A340-4A72-91EA-5A0F0BBFF7A0}"/>
    <dgm:cxn modelId="{F7212DF6-080D-45B0-8333-47A282C9C4C1}" type="presOf" srcId="{F42073E8-B4F0-4F58-A73B-690E1FA07BA9}" destId="{D1E51FD2-CB5C-4E87-B2A0-D4BADF9FC6E0}" srcOrd="0" destOrd="0" presId="urn:microsoft.com/office/officeart/2005/8/layout/default"/>
    <dgm:cxn modelId="{69F1AC6A-6066-4222-97EC-D2101F4AF2E8}" type="presParOf" srcId="{40BED806-5C78-4CA4-922E-35E96398F148}" destId="{15F7A583-17AD-4C9B-A357-0D7198505C88}" srcOrd="0" destOrd="0" presId="urn:microsoft.com/office/officeart/2005/8/layout/default"/>
    <dgm:cxn modelId="{04B13E34-DACE-49F4-AA71-3AFE943D6540}" type="presParOf" srcId="{40BED806-5C78-4CA4-922E-35E96398F148}" destId="{C8A89218-7810-475B-8D87-22B37B504A2F}" srcOrd="1" destOrd="0" presId="urn:microsoft.com/office/officeart/2005/8/layout/default"/>
    <dgm:cxn modelId="{EE8620AF-E4BB-47CB-83C7-6E81D926F017}" type="presParOf" srcId="{40BED806-5C78-4CA4-922E-35E96398F148}" destId="{FD0B974D-5E3D-418C-8DD3-667A73282A1E}" srcOrd="2" destOrd="0" presId="urn:microsoft.com/office/officeart/2005/8/layout/default"/>
    <dgm:cxn modelId="{B6008112-BD75-4F3B-AEB1-2307D274A3D9}" type="presParOf" srcId="{40BED806-5C78-4CA4-922E-35E96398F148}" destId="{1BEE2848-97F6-4445-BC3C-8F5E768769A3}" srcOrd="3" destOrd="0" presId="urn:microsoft.com/office/officeart/2005/8/layout/default"/>
    <dgm:cxn modelId="{17C22211-D10A-43CA-ADC8-7113EC7E3FD6}" type="presParOf" srcId="{40BED806-5C78-4CA4-922E-35E96398F148}" destId="{E8449975-1B9F-42B0-886A-7859CAE23695}" srcOrd="4" destOrd="0" presId="urn:microsoft.com/office/officeart/2005/8/layout/default"/>
    <dgm:cxn modelId="{195C76F1-9FF3-46C6-9670-2D7468FEF6CF}" type="presParOf" srcId="{40BED806-5C78-4CA4-922E-35E96398F148}" destId="{8C2FC36F-D83A-4A15-AD15-68DEB97672D5}" srcOrd="5" destOrd="0" presId="urn:microsoft.com/office/officeart/2005/8/layout/default"/>
    <dgm:cxn modelId="{BAC99C6E-B52F-4625-BED3-4FBE28DFC4CA}" type="presParOf" srcId="{40BED806-5C78-4CA4-922E-35E96398F148}" destId="{0AACD13F-D2E7-45D7-BD66-00C5D2217D28}" srcOrd="6" destOrd="0" presId="urn:microsoft.com/office/officeart/2005/8/layout/default"/>
    <dgm:cxn modelId="{170793A5-F3BA-4CFE-9178-636499D0F326}" type="presParOf" srcId="{40BED806-5C78-4CA4-922E-35E96398F148}" destId="{55434491-4C5B-4322-A180-42B00250AF51}" srcOrd="7" destOrd="0" presId="urn:microsoft.com/office/officeart/2005/8/layout/default"/>
    <dgm:cxn modelId="{74401CD6-76C0-4487-BE6B-BAB0F0DAB218}" type="presParOf" srcId="{40BED806-5C78-4CA4-922E-35E96398F148}" destId="{A2FEC1C7-677E-4C93-B135-0E4D799E15AF}" srcOrd="8" destOrd="0" presId="urn:microsoft.com/office/officeart/2005/8/layout/default"/>
    <dgm:cxn modelId="{5E026B78-CA5C-437B-BF24-1BF5B097ECCA}" type="presParOf" srcId="{40BED806-5C78-4CA4-922E-35E96398F148}" destId="{AE1792A0-20F1-4C83-907F-59CC0771F167}" srcOrd="9" destOrd="0" presId="urn:microsoft.com/office/officeart/2005/8/layout/default"/>
    <dgm:cxn modelId="{2410A2A5-5A26-4501-A8E4-664EB4B544CC}" type="presParOf" srcId="{40BED806-5C78-4CA4-922E-35E96398F148}" destId="{C68E5590-917A-4FEE-BD10-019F7C4EBDD2}" srcOrd="10" destOrd="0" presId="urn:microsoft.com/office/officeart/2005/8/layout/default"/>
    <dgm:cxn modelId="{A171BFD9-7629-48CA-8613-FF6DB876F870}" type="presParOf" srcId="{40BED806-5C78-4CA4-922E-35E96398F148}" destId="{AB89F763-D4C4-4DD4-8664-DD4453E754FC}" srcOrd="11" destOrd="0" presId="urn:microsoft.com/office/officeart/2005/8/layout/default"/>
    <dgm:cxn modelId="{988704F2-8969-4FC9-85A1-1BAB96AE406F}" type="presParOf" srcId="{40BED806-5C78-4CA4-922E-35E96398F148}" destId="{D1E51FD2-CB5C-4E87-B2A0-D4BADF9FC6E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7A583-17AD-4C9B-A357-0D7198505C88}">
      <dsp:nvSpPr>
        <dsp:cNvPr id="0" name=""/>
        <dsp:cNvSpPr/>
      </dsp:nvSpPr>
      <dsp:spPr>
        <a:xfrm>
          <a:off x="3080" y="468764"/>
          <a:ext cx="2444055" cy="1466433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Hypothese</a:t>
          </a:r>
          <a:r>
            <a:rPr lang="en-US" sz="20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1 &amp; 2: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NICHT </a:t>
          </a:r>
          <a:r>
            <a:rPr lang="en-US" sz="2000" b="1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bestätigt</a:t>
          </a:r>
          <a:r>
            <a:rPr lang="en-US" sz="20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3080" y="468764"/>
        <a:ext cx="2444055" cy="1466433"/>
      </dsp:txXfrm>
    </dsp:sp>
    <dsp:sp modelId="{FD0B974D-5E3D-418C-8DD3-667A73282A1E}">
      <dsp:nvSpPr>
        <dsp:cNvPr id="0" name=""/>
        <dsp:cNvSpPr/>
      </dsp:nvSpPr>
      <dsp:spPr>
        <a:xfrm>
          <a:off x="2691541" y="468764"/>
          <a:ext cx="2444055" cy="1466433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Versandkosten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zeigen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Einfluss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auf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Abbruchrate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2691541" y="468764"/>
        <a:ext cx="2444055" cy="1466433"/>
      </dsp:txXfrm>
    </dsp:sp>
    <dsp:sp modelId="{E8449975-1B9F-42B0-886A-7859CAE23695}">
      <dsp:nvSpPr>
        <dsp:cNvPr id="0" name=""/>
        <dsp:cNvSpPr/>
      </dsp:nvSpPr>
      <dsp:spPr>
        <a:xfrm>
          <a:off x="5380002" y="468764"/>
          <a:ext cx="2444055" cy="1466433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Werbeinvestment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zeigt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Einfluss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auf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Umsatz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5380002" y="468764"/>
        <a:ext cx="2444055" cy="1466433"/>
      </dsp:txXfrm>
    </dsp:sp>
    <dsp:sp modelId="{0AACD13F-D2E7-45D7-BD66-00C5D2217D28}">
      <dsp:nvSpPr>
        <dsp:cNvPr id="0" name=""/>
        <dsp:cNvSpPr/>
      </dsp:nvSpPr>
      <dsp:spPr>
        <a:xfrm>
          <a:off x="8068463" y="468764"/>
          <a:ext cx="2444055" cy="1466433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Grund: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zu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wenig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valide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Daten </a:t>
          </a:r>
        </a:p>
      </dsp:txBody>
      <dsp:txXfrm>
        <a:off x="8068463" y="468764"/>
        <a:ext cx="2444055" cy="1466433"/>
      </dsp:txXfrm>
    </dsp:sp>
    <dsp:sp modelId="{A2FEC1C7-677E-4C93-B135-0E4D799E15AF}">
      <dsp:nvSpPr>
        <dsp:cNvPr id="0" name=""/>
        <dsp:cNvSpPr/>
      </dsp:nvSpPr>
      <dsp:spPr>
        <a:xfrm>
          <a:off x="1347311" y="2179603"/>
          <a:ext cx="2444055" cy="1466433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Hypothese</a:t>
          </a:r>
          <a:r>
            <a:rPr lang="en-US" sz="20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3: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BESTÄTIGT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1347311" y="2179603"/>
        <a:ext cx="2444055" cy="1466433"/>
      </dsp:txXfrm>
    </dsp:sp>
    <dsp:sp modelId="{C68E5590-917A-4FEE-BD10-019F7C4EBDD2}">
      <dsp:nvSpPr>
        <dsp:cNvPr id="0" name=""/>
        <dsp:cNvSpPr/>
      </dsp:nvSpPr>
      <dsp:spPr>
        <a:xfrm>
          <a:off x="4035772" y="2179603"/>
          <a:ext cx="2444055" cy="1466433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Rohdatenqualität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steht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wissenschaftlichen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Aussagen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20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entgegen</a:t>
          </a:r>
          <a:r>
            <a:rPr lang="en-US" sz="20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4035772" y="2179603"/>
        <a:ext cx="2444055" cy="1466433"/>
      </dsp:txXfrm>
    </dsp:sp>
    <dsp:sp modelId="{D1E51FD2-CB5C-4E87-B2A0-D4BADF9FC6E0}">
      <dsp:nvSpPr>
        <dsp:cNvPr id="0" name=""/>
        <dsp:cNvSpPr/>
      </dsp:nvSpPr>
      <dsp:spPr>
        <a:xfrm>
          <a:off x="6753097" y="2173444"/>
          <a:ext cx="2444055" cy="1466433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2700" cap="flat" cmpd="sng" algn="ctr">
          <a:noFill/>
          <a:prstDash val="solid"/>
          <a:miter lim="800000"/>
        </a:ln>
        <a:effectLst>
          <a:outerShdw blurRad="50800" dist="38100" algn="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Datenlimits</a:t>
          </a:r>
          <a:r>
            <a:rPr lang="en-US" sz="1500" b="1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: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Nur 5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Monate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(2024) + 8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Monate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(2025)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verwertbar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→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keine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Zukunftsprognosen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  <a:r>
            <a:rPr lang="en-US" sz="1500" kern="1200" dirty="0" err="1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möglich</a:t>
          </a:r>
          <a:r>
            <a:rPr lang="en-US" sz="1500" kern="12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 </a:t>
          </a:r>
        </a:p>
      </dsp:txBody>
      <dsp:txXfrm>
        <a:off x="6753097" y="2173444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709B1-64A9-457F-83CA-74F935DE690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20FAE-DD9D-44AE-8945-F5F670524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Titel 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Teamvorstellung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Quick Facts: Daten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eines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Online-Shops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über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13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Whiskyquartier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Online-Shop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Projektziel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Dashboard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erstellen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3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Hypothesen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testen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2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098D-78FB-5936-8BA4-A14D698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A1A61-68A4-FBA3-69BE-8F9BCDBC1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167AA-2329-1B5F-543E-3AE68B8E2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9693-6CB0-954F-57F6-C15DC9D20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6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70AB-8D18-719D-955F-972D5773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44945-C90F-CC3F-7EB8-21AD62F09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D1899-152C-673E-C99D-3657A050D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Screenshot: </a:t>
            </a:r>
            <a:r>
              <a:rPr lang="en-US" altLang="en-US" dirty="0" err="1"/>
              <a:t>Visualisierung</a:t>
            </a:r>
            <a:r>
              <a:rPr lang="en-US" altLang="en-US" dirty="0"/>
              <a:t> der </a:t>
            </a:r>
            <a:r>
              <a:rPr lang="en-US" altLang="en-US" dirty="0" err="1"/>
              <a:t>Datenprobleme</a:t>
            </a:r>
            <a:r>
              <a:rPr lang="en-US" altLang="en-US" dirty="0"/>
              <a:t> (</a:t>
            </a:r>
            <a:r>
              <a:rPr lang="en-US" altLang="en-US" dirty="0" err="1"/>
              <a:t>Tabelle</a:t>
            </a:r>
            <a:r>
              <a:rPr lang="en-US" altLang="en-US" dirty="0"/>
              <a:t> </a:t>
            </a:r>
            <a:r>
              <a:rPr lang="en-US" altLang="en-US" dirty="0" err="1"/>
              <a:t>im</a:t>
            </a:r>
            <a:r>
              <a:rPr lang="en-US" altLang="en-US" dirty="0"/>
              <a:t> </a:t>
            </a:r>
            <a:r>
              <a:rPr lang="en-US" altLang="en-US" dirty="0" err="1"/>
              <a:t>Dokument</a:t>
            </a:r>
            <a:r>
              <a:rPr lang="en-US" altLang="en-US" dirty="0"/>
              <a:t> </a:t>
            </a:r>
            <a:r>
              <a:rPr lang="en-US" altLang="en-US" dirty="0" err="1"/>
              <a:t>zeigen</a:t>
            </a:r>
            <a:r>
              <a:rPr lang="en-US" altLang="en-US" dirty="0"/>
              <a:t>) ??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4ABC3-247F-4CB6-F93E-54D63923F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4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Warum 4 Tools? </a:t>
            </a:r>
          </a:p>
          <a:p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i="0" dirty="0"/>
              <a:t>Damit jedes Teammitglied sich einmal mit dem Datensatz beschäftigt um dann die Ergebnisse miteinander zu vergleichen</a:t>
            </a:r>
          </a:p>
          <a:p>
            <a:pPr marL="628650" lvl="1" indent="-171450">
              <a:buFont typeface="Wingdings" panose="05000000000000000000" pitchFamily="2" charset="2"/>
              <a:buChar char="è"/>
            </a:pPr>
            <a:endParaRPr lang="de-DE" i="0" dirty="0"/>
          </a:p>
          <a:p>
            <a:r>
              <a:rPr lang="de-DE" b="1" i="0" dirty="0"/>
              <a:t>Übergabe an Laura und Nadja</a:t>
            </a:r>
          </a:p>
          <a:p>
            <a:endParaRPr lang="de-DE" b="1" i="0" dirty="0"/>
          </a:p>
          <a:p>
            <a:r>
              <a:rPr lang="de-DE" b="1" dirty="0"/>
              <a:t>Tools</a:t>
            </a:r>
            <a:r>
              <a:rPr lang="de-DE" dirty="0"/>
              <a:t>: </a:t>
            </a:r>
          </a:p>
          <a:p>
            <a:r>
              <a:rPr lang="de-DE" dirty="0" err="1"/>
              <a:t>PowerBI</a:t>
            </a:r>
            <a:r>
              <a:rPr lang="de-DE" dirty="0"/>
              <a:t> -&gt; EDA Dashboard</a:t>
            </a:r>
          </a:p>
          <a:p>
            <a:r>
              <a:rPr lang="de-DE" dirty="0"/>
              <a:t>Python -&gt; EDA und Dash</a:t>
            </a:r>
          </a:p>
          <a:p>
            <a:r>
              <a:rPr lang="de-DE" dirty="0"/>
              <a:t>SQL -&gt; EDA und Datenbereinigung</a:t>
            </a:r>
          </a:p>
          <a:p>
            <a:r>
              <a:rPr lang="de-DE" dirty="0"/>
              <a:t>KNIME -&gt; EDA und Machine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91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wurde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umgesetzt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Power Query,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Datenmodellierung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Measures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Sternschema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Dimensionstabellen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Seiten-Navigation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Erkenntnis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optisch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fertig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inhaltlich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begrenzt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Datenqualität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20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8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brauche von Sven eine Stallvorlage für die Key-Metrik Werte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9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(Dublin-</a:t>
            </a:r>
            <a:r>
              <a:rPr lang="en-US" altLang="en-US" dirty="0" err="1"/>
              <a:t>Beispiel</a:t>
            </a:r>
            <a:r>
              <a:rPr lang="en-US" altLang="en-US" dirty="0"/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(Web-Crawler </a:t>
            </a:r>
            <a:r>
              <a:rPr lang="en-US" altLang="en-US" dirty="0" err="1"/>
              <a:t>mitgezählt</a:t>
            </a:r>
            <a:r>
              <a:rPr lang="en-US" altLang="en-US" dirty="0"/>
              <a:t>!)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05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Tracker-</a:t>
            </a:r>
            <a:r>
              <a:rPr lang="en-US" dirty="0" err="1"/>
              <a:t>Konfiguration</a:t>
            </a:r>
            <a:r>
              <a:rPr lang="en-US" dirty="0"/>
              <a:t> </a:t>
            </a:r>
            <a:r>
              <a:rPr lang="en-US" dirty="0" err="1"/>
              <a:t>überprüfen</a:t>
            </a:r>
            <a:r>
              <a:rPr lang="en-US" dirty="0"/>
              <a:t>: in </a:t>
            </a:r>
            <a:r>
              <a:rPr lang="en-US" dirty="0" err="1"/>
              <a:t>Bezug</a:t>
            </a:r>
            <a:r>
              <a:rPr lang="en-US" dirty="0"/>
              <a:t> auf </a:t>
            </a:r>
            <a:r>
              <a:rPr lang="en-US" dirty="0" err="1"/>
              <a:t>welche</a:t>
            </a:r>
            <a:r>
              <a:rPr lang="en-US" dirty="0"/>
              <a:t> IP was </a:t>
            </a:r>
            <a:r>
              <a:rPr lang="en-US" dirty="0" err="1"/>
              <a:t>wann</a:t>
            </a:r>
            <a:r>
              <a:rPr lang="en-US" dirty="0"/>
              <a:t> wo </a:t>
            </a:r>
            <a:r>
              <a:rPr lang="en-US" dirty="0" err="1"/>
              <a:t>macht</a:t>
            </a:r>
            <a:r>
              <a:rPr lang="en-US" dirty="0"/>
              <a:t>, Wie </a:t>
            </a:r>
            <a:r>
              <a:rPr lang="en-US" dirty="0" err="1"/>
              <a:t>entstehen</a:t>
            </a:r>
            <a:r>
              <a:rPr lang="en-US" dirty="0"/>
              <a:t> die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was die </a:t>
            </a:r>
            <a:r>
              <a:rPr lang="en-US" dirty="0" err="1"/>
              <a:t>geliefert</a:t>
            </a:r>
            <a:r>
              <a:rPr lang="en-US" dirty="0"/>
              <a:t> </a:t>
            </a:r>
            <a:r>
              <a:rPr lang="en-US" dirty="0" err="1"/>
              <a:t>wurden</a:t>
            </a:r>
            <a:r>
              <a:rPr lang="en-US" dirty="0"/>
              <a:t>?</a:t>
            </a:r>
          </a:p>
          <a:p>
            <a:r>
              <a:rPr lang="en-US" dirty="0"/>
              <a:t>Session-IDs </a:t>
            </a:r>
            <a:r>
              <a:rPr lang="en-US" dirty="0" err="1"/>
              <a:t>konsistent</a:t>
            </a:r>
            <a:r>
              <a:rPr lang="en-US" dirty="0"/>
              <a:t> </a:t>
            </a:r>
            <a:r>
              <a:rPr lang="en-US" dirty="0" err="1"/>
              <a:t>halten</a:t>
            </a:r>
            <a:r>
              <a:rPr lang="en-US" dirty="0"/>
              <a:t>:</a:t>
            </a:r>
          </a:p>
          <a:p>
            <a:r>
              <a:rPr lang="en-US" dirty="0"/>
              <a:t>Web-</a:t>
            </a:r>
            <a:r>
              <a:rPr lang="en-US" dirty="0" err="1"/>
              <a:t>Crawlwer</a:t>
            </a:r>
            <a:r>
              <a:rPr lang="en-US" dirty="0"/>
              <a:t> </a:t>
            </a:r>
            <a:r>
              <a:rPr lang="en-US" dirty="0" err="1"/>
              <a:t>ausschließen</a:t>
            </a:r>
            <a:r>
              <a:rPr lang="en-US" dirty="0"/>
              <a:t>: </a:t>
            </a:r>
            <a:r>
              <a:rPr lang="en-US" dirty="0" err="1"/>
              <a:t>Suchmaschinenbesuche</a:t>
            </a:r>
            <a:r>
              <a:rPr lang="en-US" dirty="0"/>
              <a:t> auf der </a:t>
            </a:r>
            <a:r>
              <a:rPr lang="en-US" dirty="0" err="1"/>
              <a:t>Webseite</a:t>
            </a:r>
            <a:r>
              <a:rPr lang="en-US" dirty="0"/>
              <a:t> nicht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Kundenbesuche</a:t>
            </a:r>
            <a:r>
              <a:rPr lang="en-US" dirty="0"/>
              <a:t> </a:t>
            </a:r>
            <a:r>
              <a:rPr lang="en-US" dirty="0" err="1"/>
              <a:t>zählen</a:t>
            </a:r>
            <a:endParaRPr lang="en-US" dirty="0"/>
          </a:p>
          <a:p>
            <a:r>
              <a:rPr lang="en-US" dirty="0" err="1"/>
              <a:t>Kontinuierliche</a:t>
            </a:r>
            <a:r>
              <a:rPr lang="en-US" dirty="0"/>
              <a:t> </a:t>
            </a:r>
            <a:r>
              <a:rPr lang="en-US" dirty="0" err="1"/>
              <a:t>Datenchecks</a:t>
            </a:r>
            <a:r>
              <a:rPr lang="en-US" dirty="0"/>
              <a:t> </a:t>
            </a:r>
            <a:r>
              <a:rPr lang="en-US" dirty="0" err="1"/>
              <a:t>etablieren</a:t>
            </a:r>
            <a:r>
              <a:rPr lang="en-US" dirty="0"/>
              <a:t>: Sven </a:t>
            </a:r>
            <a:r>
              <a:rPr lang="en-US" dirty="0" err="1"/>
              <a:t>fragen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05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Keine finale Aussage wegen fehlender Datenmenge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20FAE-DD9D-44AE-8945-F5F670524C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45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3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9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59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7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0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64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6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594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40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3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62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onstantia" panose="0203060205030603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D1D3-3433-E955-582A-7BD97C97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for a company&#10;&#10;AI-generated content may be incorrect.">
            <a:extLst>
              <a:ext uri="{FF2B5EF4-FFF2-40B4-BE49-F238E27FC236}">
                <a16:creationId xmlns:a16="http://schemas.microsoft.com/office/drawing/2014/main" id="{8D22ABC1-EFCE-B9B7-4558-23F97BDA3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662" y="2325387"/>
            <a:ext cx="3964674" cy="331344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9989511-1A9A-C97F-808C-5645C1074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06" y="5772185"/>
            <a:ext cx="11264900" cy="507966"/>
          </a:xfrm>
          <a:solidFill>
            <a:srgbClr val="D8CDD4"/>
          </a:solidFill>
        </p:spPr>
        <p:txBody>
          <a:bodyPr anchor="t">
            <a:normAutofit lnSpcReduction="10000"/>
          </a:bodyPr>
          <a:lstStyle/>
          <a:p>
            <a:pPr algn="ctr"/>
            <a:r>
              <a:rPr lang="de-DE" sz="2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Ein Projekt von Christine Eisenburger, Nadja Post, Laura Richter &amp; Sven Schrodt</a:t>
            </a:r>
            <a:endParaRPr lang="en-US" sz="2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D9389-3358-D388-4227-CEA8C81F4226}"/>
              </a:ext>
            </a:extLst>
          </p:cNvPr>
          <p:cNvSpPr txBox="1"/>
          <p:nvPr/>
        </p:nvSpPr>
        <p:spPr>
          <a:xfrm>
            <a:off x="462406" y="482600"/>
            <a:ext cx="11264900" cy="17851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6600" dirty="0">
                <a:latin typeface="Constantia" panose="02030602050306030303" pitchFamily="18" charset="0"/>
              </a:rPr>
              <a:t>Data On The Rocks</a:t>
            </a:r>
          </a:p>
          <a:p>
            <a:pPr algn="ctr"/>
            <a:r>
              <a:rPr lang="de-DE" sz="4200" dirty="0">
                <a:latin typeface="Constantia" panose="02030602050306030303" pitchFamily="18" charset="0"/>
              </a:rPr>
              <a:t>Eine Analyse</a:t>
            </a:r>
            <a:endParaRPr lang="en-US" sz="4200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89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6BA0-B4F9-B8D2-4B94-13CAA5C4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EB4C-FF5E-4E05-BA7F-59ED4E80CEAB}"/>
              </a:ext>
            </a:extLst>
          </p:cNvPr>
          <p:cNvSpPr txBox="1">
            <a:spLocks/>
          </p:cNvSpPr>
          <p:nvPr/>
        </p:nvSpPr>
        <p:spPr>
          <a:xfrm>
            <a:off x="419100" y="584990"/>
            <a:ext cx="11341100" cy="1116811"/>
          </a:xfrm>
          <a:prstGeom prst="rect">
            <a:avLst/>
          </a:prstGeom>
          <a:solidFill>
            <a:srgbClr val="C0BCBE"/>
          </a:solidFill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de-DE" dirty="0"/>
              <a:t>Gliederung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625A77-36CB-0CB5-D02B-68D8E9864CF2}"/>
              </a:ext>
            </a:extLst>
          </p:cNvPr>
          <p:cNvSpPr/>
          <p:nvPr/>
        </p:nvSpPr>
        <p:spPr>
          <a:xfrm>
            <a:off x="6748130" y="6330781"/>
            <a:ext cx="6446834" cy="885263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83D96F-0D18-7230-144D-679C608AF27A}"/>
              </a:ext>
            </a:extLst>
          </p:cNvPr>
          <p:cNvGrpSpPr/>
          <p:nvPr/>
        </p:nvGrpSpPr>
        <p:grpSpPr>
          <a:xfrm>
            <a:off x="6748130" y="7180098"/>
            <a:ext cx="6446834" cy="440322"/>
            <a:chOff x="0" y="3533959"/>
            <a:chExt cx="6372366" cy="54054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30F6E34-E22B-026E-9D7D-DEE8AFD34C94}"/>
                </a:ext>
              </a:extLst>
            </p:cNvPr>
            <p:cNvSpPr/>
            <p:nvPr/>
          </p:nvSpPr>
          <p:spPr>
            <a:xfrm>
              <a:off x="0" y="3533959"/>
              <a:ext cx="6372366" cy="540540"/>
            </a:xfrm>
            <a:prstGeom prst="roundRect">
              <a:avLst/>
            </a:prstGeom>
            <a:ln>
              <a:noFill/>
            </a:ln>
            <a:effectLst/>
          </p:spPr>
          <p:style>
            <a:lnRef idx="2">
              <a:scrgbClr r="0" g="0" b="0"/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8646A68F-7A5E-F2A5-6B68-F0E64B8FDC94}"/>
                </a:ext>
              </a:extLst>
            </p:cNvPr>
            <p:cNvSpPr txBox="1"/>
            <p:nvPr/>
          </p:nvSpPr>
          <p:spPr>
            <a:xfrm>
              <a:off x="26387" y="3560346"/>
              <a:ext cx="6319592" cy="4877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>
                  <a:latin typeface="Segoe UI Light" panose="020B0502040204020203" pitchFamily="34" charset="0"/>
                  <a:cs typeface="Segoe UI Light" panose="020B0502040204020203" pitchFamily="34" charset="0"/>
                </a:rPr>
                <a:t>Fachliche Ergebnisse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5115B4-BC67-6993-11A1-128BB3E0D686}"/>
              </a:ext>
            </a:extLst>
          </p:cNvPr>
          <p:cNvGrpSpPr/>
          <p:nvPr/>
        </p:nvGrpSpPr>
        <p:grpSpPr>
          <a:xfrm>
            <a:off x="6748130" y="7781118"/>
            <a:ext cx="6446834" cy="440322"/>
            <a:chOff x="0" y="4134979"/>
            <a:chExt cx="6372366" cy="54054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6C2C984-2C4E-2B9E-25D9-B28B66371443}"/>
                </a:ext>
              </a:extLst>
            </p:cNvPr>
            <p:cNvSpPr/>
            <p:nvPr/>
          </p:nvSpPr>
          <p:spPr>
            <a:xfrm>
              <a:off x="0" y="4134979"/>
              <a:ext cx="6372366" cy="540540"/>
            </a:xfrm>
            <a:prstGeom prst="roundRect">
              <a:avLst/>
            </a:prstGeom>
            <a:ln>
              <a:noFill/>
            </a:ln>
            <a:effectLst/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16">
              <a:extLst>
                <a:ext uri="{FF2B5EF4-FFF2-40B4-BE49-F238E27FC236}">
                  <a16:creationId xmlns:a16="http://schemas.microsoft.com/office/drawing/2014/main" id="{99A34A53-0429-F841-7F39-0246B735A1D0}"/>
                </a:ext>
              </a:extLst>
            </p:cNvPr>
            <p:cNvSpPr txBox="1"/>
            <p:nvPr/>
          </p:nvSpPr>
          <p:spPr>
            <a:xfrm>
              <a:off x="26387" y="4161366"/>
              <a:ext cx="6319592" cy="4877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>
                  <a:latin typeface="Segoe UI Light" panose="020B0502040204020203" pitchFamily="34" charset="0"/>
                  <a:cs typeface="Segoe UI Light" panose="020B0502040204020203" pitchFamily="34" charset="0"/>
                </a:rPr>
                <a:t>Lessons Learned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9B84AD-C6CC-7B6F-B813-B512628F3AB6}"/>
              </a:ext>
            </a:extLst>
          </p:cNvPr>
          <p:cNvGrpSpPr/>
          <p:nvPr/>
        </p:nvGrpSpPr>
        <p:grpSpPr>
          <a:xfrm>
            <a:off x="6748130" y="8382138"/>
            <a:ext cx="6446834" cy="440322"/>
            <a:chOff x="0" y="4735999"/>
            <a:chExt cx="6372366" cy="54054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65D614-30C6-D7B2-42B5-BE029AC59F6A}"/>
                </a:ext>
              </a:extLst>
            </p:cNvPr>
            <p:cNvSpPr/>
            <p:nvPr/>
          </p:nvSpPr>
          <p:spPr>
            <a:xfrm>
              <a:off x="0" y="4735999"/>
              <a:ext cx="6372366" cy="540540"/>
            </a:xfrm>
            <a:prstGeom prst="roundRect">
              <a:avLst/>
            </a:prstGeom>
            <a:ln>
              <a:noFill/>
            </a:ln>
            <a:effectLst/>
          </p:spPr>
          <p:style>
            <a:lnRef idx="2">
              <a:scrgbClr r="0" g="0" b="0"/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342E478-B949-ED6E-C996-993B48E7189E}"/>
                </a:ext>
              </a:extLst>
            </p:cNvPr>
            <p:cNvSpPr txBox="1"/>
            <p:nvPr/>
          </p:nvSpPr>
          <p:spPr>
            <a:xfrm>
              <a:off x="26387" y="4762386"/>
              <a:ext cx="6319592" cy="4877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l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Fazit</a:t>
              </a:r>
              <a:r>
                <a:rPr lang="en-US" sz="21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&amp; </a:t>
              </a:r>
              <a:r>
                <a:rPr lang="en-US" sz="21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Ausblick</a:t>
              </a:r>
              <a:endParaRPr lang="en-US" sz="2100" kern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81541C-A86C-C002-0118-B2BC4F50524E}"/>
              </a:ext>
            </a:extLst>
          </p:cNvPr>
          <p:cNvGrpSpPr/>
          <p:nvPr/>
        </p:nvGrpSpPr>
        <p:grpSpPr>
          <a:xfrm>
            <a:off x="838200" y="2402834"/>
            <a:ext cx="10420350" cy="3684238"/>
            <a:chOff x="419097" y="2599684"/>
            <a:chExt cx="11341103" cy="36842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10FDD38-B394-3017-F922-1602FC85AE07}"/>
                </a:ext>
              </a:extLst>
            </p:cNvPr>
            <p:cNvGrpSpPr/>
            <p:nvPr/>
          </p:nvGrpSpPr>
          <p:grpSpPr>
            <a:xfrm>
              <a:off x="419100" y="2599684"/>
              <a:ext cx="11341100" cy="440322"/>
              <a:chOff x="0" y="103609"/>
              <a:chExt cx="6372366" cy="5405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398C89DF-BB0C-6C5D-1785-11D5041F35D1}"/>
                  </a:ext>
                </a:extLst>
              </p:cNvPr>
              <p:cNvSpPr/>
              <p:nvPr/>
            </p:nvSpPr>
            <p:spPr>
              <a:xfrm>
                <a:off x="0" y="10360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C2B4DD8B-A523-F86F-E5F5-EC7B52D2AD0E}"/>
                  </a:ext>
                </a:extLst>
              </p:cNvPr>
              <p:cNvSpPr txBox="1"/>
              <p:nvPr/>
            </p:nvSpPr>
            <p:spPr>
              <a:xfrm>
                <a:off x="26387" y="12999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 dirty="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Datenqualität &amp; </a:t>
                </a:r>
                <a:r>
                  <a:rPr lang="en-US" sz="2100" kern="12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Hypothesen</a:t>
                </a:r>
                <a:endParaRPr lang="en-US" sz="2100" kern="1200" dirty="0">
                  <a:solidFill>
                    <a:schemeClr val="bg2">
                      <a:lumMod val="1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B5E1C47-6248-381F-B0CC-3A149FBFC853}"/>
                </a:ext>
              </a:extLst>
            </p:cNvPr>
            <p:cNvGrpSpPr/>
            <p:nvPr/>
          </p:nvGrpSpPr>
          <p:grpSpPr>
            <a:xfrm>
              <a:off x="419098" y="3153101"/>
              <a:ext cx="11341099" cy="440322"/>
              <a:chOff x="0" y="704629"/>
              <a:chExt cx="6372366" cy="540540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FCE4927C-F57E-8525-FCAE-48D4D8BC509A}"/>
                  </a:ext>
                </a:extLst>
              </p:cNvPr>
              <p:cNvSpPr/>
              <p:nvPr/>
            </p:nvSpPr>
            <p:spPr>
              <a:xfrm>
                <a:off x="0" y="70462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6" name="Rectangle: Rounded Corners 6">
                <a:extLst>
                  <a:ext uri="{FF2B5EF4-FFF2-40B4-BE49-F238E27FC236}">
                    <a16:creationId xmlns:a16="http://schemas.microsoft.com/office/drawing/2014/main" id="{672DE134-0BE8-B92F-5E7F-D64CB55DC47D}"/>
                  </a:ext>
                </a:extLst>
              </p:cNvPr>
              <p:cNvSpPr txBox="1"/>
              <p:nvPr/>
            </p:nvSpPr>
            <p:spPr>
              <a:xfrm>
                <a:off x="26387" y="73101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Methodischer</a:t>
                </a:r>
                <a:r>
                  <a:rPr lang="en-US" sz="2100" kern="1200" dirty="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Ansatz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4ADD6A2-623E-B231-53E3-63B71F5B7BF8}"/>
                </a:ext>
              </a:extLst>
            </p:cNvPr>
            <p:cNvGrpSpPr/>
            <p:nvPr/>
          </p:nvGrpSpPr>
          <p:grpSpPr>
            <a:xfrm>
              <a:off x="419099" y="3704409"/>
              <a:ext cx="11341098" cy="440322"/>
              <a:chOff x="0" y="1305649"/>
              <a:chExt cx="6372366" cy="540540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4E396B2-C9C1-87B6-9FF0-85FD1D986D98}"/>
                  </a:ext>
                </a:extLst>
              </p:cNvPr>
              <p:cNvSpPr/>
              <p:nvPr/>
            </p:nvSpPr>
            <p:spPr>
              <a:xfrm>
                <a:off x="0" y="130564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Rectangle: Rounded Corners 8">
                <a:extLst>
                  <a:ext uri="{FF2B5EF4-FFF2-40B4-BE49-F238E27FC236}">
                    <a16:creationId xmlns:a16="http://schemas.microsoft.com/office/drawing/2014/main" id="{7262BA6D-69F4-A304-A6C4-AA011052EF42}"/>
                  </a:ext>
                </a:extLst>
              </p:cNvPr>
              <p:cNvSpPr txBox="1"/>
              <p:nvPr/>
            </p:nvSpPr>
            <p:spPr>
              <a:xfrm>
                <a:off x="26387" y="133203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Analyse-Ergebnisse</a:t>
                </a:r>
                <a:endParaRPr lang="en-US" sz="2100" kern="1200" dirty="0">
                  <a:solidFill>
                    <a:schemeClr val="bg2">
                      <a:lumMod val="1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1D578F2-68F5-01DE-CC1F-7683584E9DDD}"/>
                </a:ext>
              </a:extLst>
            </p:cNvPr>
            <p:cNvGrpSpPr/>
            <p:nvPr/>
          </p:nvGrpSpPr>
          <p:grpSpPr>
            <a:xfrm>
              <a:off x="419097" y="4826456"/>
              <a:ext cx="11341096" cy="440322"/>
              <a:chOff x="0" y="3533959"/>
              <a:chExt cx="6372366" cy="540540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249EB5E-9819-CA6A-B832-DA91FADC7377}"/>
                  </a:ext>
                </a:extLst>
              </p:cNvPr>
              <p:cNvSpPr/>
              <p:nvPr/>
            </p:nvSpPr>
            <p:spPr>
              <a:xfrm>
                <a:off x="0" y="353395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37" name="Rectangle: Rounded Corners 4">
                <a:extLst>
                  <a:ext uri="{FF2B5EF4-FFF2-40B4-BE49-F238E27FC236}">
                    <a16:creationId xmlns:a16="http://schemas.microsoft.com/office/drawing/2014/main" id="{AC22F70F-BD0A-51BD-1083-A639B35F7BF7}"/>
                  </a:ext>
                </a:extLst>
              </p:cNvPr>
              <p:cNvSpPr txBox="1"/>
              <p:nvPr/>
            </p:nvSpPr>
            <p:spPr>
              <a:xfrm>
                <a:off x="26387" y="356034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Fachliche Ergebnisse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442E468-8C3D-8A73-0CB2-E8BE8BCBE6FB}"/>
                </a:ext>
              </a:extLst>
            </p:cNvPr>
            <p:cNvGrpSpPr/>
            <p:nvPr/>
          </p:nvGrpSpPr>
          <p:grpSpPr>
            <a:xfrm>
              <a:off x="419098" y="5373975"/>
              <a:ext cx="11341095" cy="412065"/>
              <a:chOff x="0" y="4134979"/>
              <a:chExt cx="6372366" cy="540540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B4D5F78F-92B7-CF6E-6666-FEEEA6ED7BBE}"/>
                  </a:ext>
                </a:extLst>
              </p:cNvPr>
              <p:cNvSpPr/>
              <p:nvPr/>
            </p:nvSpPr>
            <p:spPr>
              <a:xfrm>
                <a:off x="0" y="413497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35" name="Rectangle: Rounded Corners 6">
                <a:extLst>
                  <a:ext uri="{FF2B5EF4-FFF2-40B4-BE49-F238E27FC236}">
                    <a16:creationId xmlns:a16="http://schemas.microsoft.com/office/drawing/2014/main" id="{D74FB9AC-5723-283B-14C0-5FFCCD737A4B}"/>
                  </a:ext>
                </a:extLst>
              </p:cNvPr>
              <p:cNvSpPr txBox="1"/>
              <p:nvPr/>
            </p:nvSpPr>
            <p:spPr>
              <a:xfrm>
                <a:off x="26387" y="416136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Lessons Learned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5882C8B-2289-EF23-31E7-5D59DE80C081}"/>
                </a:ext>
              </a:extLst>
            </p:cNvPr>
            <p:cNvGrpSpPr/>
            <p:nvPr/>
          </p:nvGrpSpPr>
          <p:grpSpPr>
            <a:xfrm>
              <a:off x="419097" y="5905277"/>
              <a:ext cx="11341094" cy="378645"/>
              <a:chOff x="0" y="4735999"/>
              <a:chExt cx="6372366" cy="540540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6C6BBCF8-F637-B4B8-43A7-668AF0279927}"/>
                  </a:ext>
                </a:extLst>
              </p:cNvPr>
              <p:cNvSpPr/>
              <p:nvPr/>
            </p:nvSpPr>
            <p:spPr>
              <a:xfrm>
                <a:off x="0" y="473599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33" name="Rectangle: Rounded Corners 8">
                <a:extLst>
                  <a:ext uri="{FF2B5EF4-FFF2-40B4-BE49-F238E27FC236}">
                    <a16:creationId xmlns:a16="http://schemas.microsoft.com/office/drawing/2014/main" id="{A49D75C4-4258-C928-551D-39068184C44E}"/>
                  </a:ext>
                </a:extLst>
              </p:cNvPr>
              <p:cNvSpPr txBox="1"/>
              <p:nvPr/>
            </p:nvSpPr>
            <p:spPr>
              <a:xfrm>
                <a:off x="26387" y="4762386"/>
                <a:ext cx="6319592" cy="487766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100" kern="12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Fazit</a:t>
                </a:r>
                <a:r>
                  <a:rPr lang="en-US" sz="2100" kern="1200" dirty="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&amp; </a:t>
                </a:r>
                <a:r>
                  <a:rPr lang="en-US" sz="2100" kern="12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Ausblick</a:t>
                </a:r>
                <a:endParaRPr lang="en-US" sz="2100" kern="1200" dirty="0">
                  <a:solidFill>
                    <a:schemeClr val="bg2">
                      <a:lumMod val="1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4B8F942-5070-66B6-0D9E-A59C89035938}"/>
                </a:ext>
              </a:extLst>
            </p:cNvPr>
            <p:cNvGrpSpPr/>
            <p:nvPr/>
          </p:nvGrpSpPr>
          <p:grpSpPr>
            <a:xfrm>
              <a:off x="419098" y="4268551"/>
              <a:ext cx="11341095" cy="440322"/>
              <a:chOff x="0" y="1305649"/>
              <a:chExt cx="6372366" cy="54054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CCE880EE-B09A-C20D-B5BD-D01E2401E63C}"/>
                  </a:ext>
                </a:extLst>
              </p:cNvPr>
              <p:cNvSpPr/>
              <p:nvPr/>
            </p:nvSpPr>
            <p:spPr>
              <a:xfrm>
                <a:off x="0" y="1305649"/>
                <a:ext cx="6372366" cy="540540"/>
              </a:xfrm>
              <a:prstGeom prst="round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rgbClr r="0" g="0" b="0"/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40" name="Rectangle: Rounded Corners 8">
                <a:extLst>
                  <a:ext uri="{FF2B5EF4-FFF2-40B4-BE49-F238E27FC236}">
                    <a16:creationId xmlns:a16="http://schemas.microsoft.com/office/drawing/2014/main" id="{D3C2677A-017E-31B0-7A34-2AD2D82E9821}"/>
                  </a:ext>
                </a:extLst>
              </p:cNvPr>
              <p:cNvSpPr txBox="1"/>
              <p:nvPr/>
            </p:nvSpPr>
            <p:spPr>
              <a:xfrm>
                <a:off x="26387" y="1332036"/>
                <a:ext cx="6319591" cy="48776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80010" tIns="80010" rIns="80010" bIns="80010" numCol="1" spcCol="1270" anchor="ctr" anchorCtr="0">
                <a:noAutofit/>
              </a:bodyPr>
              <a:lstStyle/>
              <a:p>
                <a:pPr algn="ctr"/>
                <a:r>
                  <a:rPr lang="en-US" sz="21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Datenprobleme</a:t>
                </a:r>
                <a:r>
                  <a:rPr lang="en-US" sz="2100" dirty="0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&amp; </a:t>
                </a:r>
                <a:r>
                  <a:rPr lang="en-US" sz="2100" dirty="0" err="1">
                    <a:solidFill>
                      <a:schemeClr val="bg2">
                        <a:lumMod val="10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Lösungen</a:t>
                </a:r>
                <a:endParaRPr lang="en-US" sz="2100" dirty="0">
                  <a:solidFill>
                    <a:schemeClr val="bg2">
                      <a:lumMod val="10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211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18C7-07D5-D031-F3B6-397B5B45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D1902F-6273-F924-096C-FA8B57E0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7150F82-7B62-3B19-E0BD-BB777673020A}"/>
              </a:ext>
            </a:extLst>
          </p:cNvPr>
          <p:cNvSpPr txBox="1">
            <a:spLocks/>
          </p:cNvSpPr>
          <p:nvPr/>
        </p:nvSpPr>
        <p:spPr>
          <a:xfrm>
            <a:off x="419100" y="584989"/>
            <a:ext cx="11353800" cy="11168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Datenqualität &amp; </a:t>
            </a:r>
            <a:r>
              <a:rPr lang="en-US" dirty="0" err="1"/>
              <a:t>Hypothesen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2DFBA9D-C970-FCF6-E581-62A2FFAF9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12336"/>
            <a:ext cx="3322675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800" i="1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400" i="1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 err="1"/>
              <a:t>Datenqualität:"marginal</a:t>
            </a:r>
            <a:r>
              <a:rPr lang="en-US" altLang="en-US" sz="2400" dirty="0"/>
              <a:t>"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/>
              <a:t>- &lt; 3000 </a:t>
            </a:r>
            <a:r>
              <a:rPr lang="en-US" altLang="en-US" sz="2400" dirty="0" err="1"/>
              <a:t>Werte</a:t>
            </a:r>
            <a:r>
              <a:rPr lang="en-US" altLang="en-US" sz="2400" dirty="0"/>
              <a:t>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-"/>
            </a:pPr>
            <a:r>
              <a:rPr lang="en-US" altLang="en-US" sz="2400" dirty="0" err="1"/>
              <a:t>viele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Nullwerte</a:t>
            </a:r>
            <a:r>
              <a:rPr lang="en-US" altLang="en-US" sz="2400" dirty="0"/>
              <a:t>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-"/>
            </a:pPr>
            <a:r>
              <a:rPr lang="en-US" altLang="en-US" sz="2400" dirty="0" err="1"/>
              <a:t>Aggregationen</a:t>
            </a:r>
            <a:endParaRPr lang="en-US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BC291-A36F-6214-DAD3-0ED718750786}"/>
              </a:ext>
            </a:extLst>
          </p:cNvPr>
          <p:cNvSpPr txBox="1"/>
          <p:nvPr/>
        </p:nvSpPr>
        <p:spPr>
          <a:xfrm>
            <a:off x="5011480" y="2112336"/>
            <a:ext cx="6063378" cy="4062651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Unsere</a:t>
            </a:r>
            <a:r>
              <a:rPr lang="en-US" altLang="en-US" sz="24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3 </a:t>
            </a:r>
            <a:r>
              <a:rPr lang="en-US" altLang="en-US" sz="2400"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Hypothesen</a:t>
            </a:r>
            <a:r>
              <a:rPr lang="en-US" altLang="en-US" sz="24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Constantia" panose="02030602050306030303" pitchFamily="18" charset="0"/>
                <a:cs typeface="Segoe UI Light" panose="020B0502040204020203" pitchFamily="34" charset="0"/>
              </a:rPr>
              <a:t> </a:t>
            </a:r>
          </a:p>
          <a:p>
            <a:pPr marL="2743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AutoNum type="arabicPeriod"/>
            </a:pPr>
            <a:endParaRPr lang="en-US" alt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E2863-C38B-4334-6FA6-BCBC57ACA23B}"/>
              </a:ext>
            </a:extLst>
          </p:cNvPr>
          <p:cNvSpPr txBox="1"/>
          <p:nvPr/>
        </p:nvSpPr>
        <p:spPr>
          <a:xfrm>
            <a:off x="5011476" y="2905312"/>
            <a:ext cx="6063378" cy="7386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Versandkosten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↔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Abbruchrate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097EC-F36A-D87C-16A2-444CD79446BE}"/>
              </a:ext>
            </a:extLst>
          </p:cNvPr>
          <p:cNvSpPr txBox="1"/>
          <p:nvPr/>
        </p:nvSpPr>
        <p:spPr>
          <a:xfrm>
            <a:off x="5011476" y="3986151"/>
            <a:ext cx="6063378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-18288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Werbeinvestment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↔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Nettoumsatz</a:t>
            </a:r>
            <a:endParaRPr lang="en-US" alt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indent="-18288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55C72-382F-4D9F-8AA3-76574D6CC9F2}"/>
              </a:ext>
            </a:extLst>
          </p:cNvPr>
          <p:cNvSpPr txBox="1"/>
          <p:nvPr/>
        </p:nvSpPr>
        <p:spPr>
          <a:xfrm>
            <a:off x="5011476" y="5066991"/>
            <a:ext cx="6063378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Rohdatenqualität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verhindert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valide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4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Aussagen</a:t>
            </a:r>
            <a:r>
              <a:rPr lang="en-US" alt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758832-AC20-5585-2563-670BB7A2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66663"/>
            <a:ext cx="3322675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5029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800" i="1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82296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09728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Goudy Old Style" panose="02020502050305020303" pitchFamily="18" charset="0"/>
              <a:buChar char="–"/>
              <a:defRPr sz="1400" i="1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1371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 err="1"/>
              <a:t>Projektziel</a:t>
            </a:r>
            <a:r>
              <a:rPr lang="en-US" altLang="en-US" sz="2400" dirty="0"/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/>
              <a:t>Dashboard in </a:t>
            </a:r>
            <a:r>
              <a:rPr lang="en-US" altLang="en-US" sz="2400" dirty="0" err="1"/>
              <a:t>PowerBI</a:t>
            </a:r>
            <a:endParaRPr lang="en-US" altLang="en-US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 err="1"/>
              <a:t>Analyse</a:t>
            </a:r>
            <a:r>
              <a:rPr lang="en-US" altLang="en-US" sz="2400" dirty="0"/>
              <a:t> von: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/>
              <a:t>Traffic, </a:t>
            </a:r>
            <a:r>
              <a:rPr lang="en-US" altLang="en-US" sz="2400" dirty="0" err="1"/>
              <a:t>Zielgruppe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Absprung</a:t>
            </a:r>
            <a:r>
              <a:rPr lang="en-US" altLang="en-US" sz="2400" dirty="0"/>
              <a:t>, Conversion</a:t>
            </a:r>
          </a:p>
        </p:txBody>
      </p:sp>
    </p:spTree>
    <p:extLst>
      <p:ext uri="{BB962C8B-B14F-4D97-AF65-F5344CB8AC3E}">
        <p14:creationId xmlns:p14="http://schemas.microsoft.com/office/powerpoint/2010/main" val="141051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9C58-9F8F-6D21-BA6C-7FC8716C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584990"/>
            <a:ext cx="11404600" cy="1116811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marL="457200" indent="-457200"/>
            <a:r>
              <a:rPr lang="en-US" dirty="0" err="1"/>
              <a:t>Methodischer</a:t>
            </a:r>
            <a:r>
              <a:rPr lang="en-US" dirty="0"/>
              <a:t> Ansatz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37DE97B-16F5-C1EA-CF71-1BB21B060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470"/>
            <a:ext cx="4548963" cy="4211540"/>
          </a:xfrm>
        </p:spPr>
        <p:txBody>
          <a:bodyPr/>
          <a:lstStyle/>
          <a:p>
            <a:r>
              <a:rPr lang="de-DE" dirty="0"/>
              <a:t>Warum 4 Tools? </a:t>
            </a:r>
          </a:p>
          <a:p>
            <a:r>
              <a:rPr lang="de-DE" dirty="0"/>
              <a:t>Tools: </a:t>
            </a:r>
            <a:r>
              <a:rPr lang="de-DE" dirty="0" err="1"/>
              <a:t>PowerBI</a:t>
            </a:r>
            <a:r>
              <a:rPr lang="de-DE" dirty="0"/>
              <a:t> | Python | SQL | KNIME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7" name="Picture 16" descr="A yellow rectangular objects with black background&#10;&#10;AI-generated content may be incorrect.">
            <a:extLst>
              <a:ext uri="{FF2B5EF4-FFF2-40B4-BE49-F238E27FC236}">
                <a16:creationId xmlns:a16="http://schemas.microsoft.com/office/drawing/2014/main" id="{A2396C91-9431-B508-E70B-A614F4FA2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364" y="2057376"/>
            <a:ext cx="1942006" cy="1942006"/>
          </a:xfrm>
          <a:prstGeom prst="rect">
            <a:avLst/>
          </a:prstGeom>
        </p:spPr>
      </p:pic>
      <p:pic>
        <p:nvPicPr>
          <p:cNvPr id="23" name="Picture 22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85444888-2526-1C60-41A3-05602AB73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801" y="4324240"/>
            <a:ext cx="2251554" cy="1948770"/>
          </a:xfrm>
          <a:prstGeom prst="rect">
            <a:avLst/>
          </a:prstGeom>
        </p:spPr>
      </p:pic>
      <p:pic>
        <p:nvPicPr>
          <p:cNvPr id="25" name="Picture 24" descr="A logo of a database&#10;&#10;AI-generated content may be incorrect.">
            <a:extLst>
              <a:ext uri="{FF2B5EF4-FFF2-40B4-BE49-F238E27FC236}">
                <a16:creationId xmlns:a16="http://schemas.microsoft.com/office/drawing/2014/main" id="{9709BA19-7720-2B48-B492-233D71F78D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308" y="4354957"/>
            <a:ext cx="1948096" cy="1948096"/>
          </a:xfrm>
          <a:prstGeom prst="rect">
            <a:avLst/>
          </a:prstGeom>
        </p:spPr>
      </p:pic>
      <p:pic>
        <p:nvPicPr>
          <p:cNvPr id="27" name="Picture 26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2F037180-FA27-B907-FA3D-201AE8DE79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575" y="2057376"/>
            <a:ext cx="1942006" cy="19420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1C6635-A23C-569B-F940-A3741A3EA55D}"/>
              </a:ext>
            </a:extLst>
          </p:cNvPr>
          <p:cNvCxnSpPr>
            <a:cxnSpLocks/>
          </p:cNvCxnSpPr>
          <p:nvPr/>
        </p:nvCxnSpPr>
        <p:spPr>
          <a:xfrm>
            <a:off x="5996763" y="2061470"/>
            <a:ext cx="0" cy="4382634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76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A51C-8E5C-5E23-BF4C-54FE5336A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584990"/>
            <a:ext cx="11404600" cy="1116811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900" dirty="0" err="1">
                <a:cs typeface="Segoe UI Light" panose="020B0502040204020203" pitchFamily="34" charset="0"/>
              </a:rPr>
              <a:t>Analyse-Ergebnisse</a:t>
            </a:r>
            <a:br>
              <a:rPr lang="en-US" dirty="0"/>
            </a:br>
            <a:r>
              <a:rPr lang="en-US" sz="3100" dirty="0" err="1"/>
              <a:t>PowerBI</a:t>
            </a:r>
            <a:r>
              <a:rPr lang="en-US" sz="3100" dirty="0"/>
              <a:t> (Demo)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DD5D03-3E8A-51A0-336A-7F3AAC3CB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6945" y="3429000"/>
            <a:ext cx="30941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400" dirty="0"/>
              <a:t>- Hier </a:t>
            </a:r>
            <a:r>
              <a:rPr lang="en-US" altLang="en-US" sz="2400" dirty="0" err="1"/>
              <a:t>zu</a:t>
            </a:r>
            <a:r>
              <a:rPr lang="en-US" altLang="en-US" sz="2400" dirty="0"/>
              <a:t> BI </a:t>
            </a:r>
            <a:r>
              <a:rPr lang="en-US" altLang="en-US" sz="2400" dirty="0" err="1"/>
              <a:t>wechseln</a:t>
            </a:r>
            <a:r>
              <a:rPr lang="en-US" altLang="en-US" sz="2400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6084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00F2FE61-262D-FEDA-5277-947A6247BB79}"/>
              </a:ext>
            </a:extLst>
          </p:cNvPr>
          <p:cNvSpPr/>
          <p:nvPr/>
        </p:nvSpPr>
        <p:spPr>
          <a:xfrm>
            <a:off x="8897134" y="2770758"/>
            <a:ext cx="1887187" cy="1887187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E192FF2-F451-FE74-A1C0-E7B84A2E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9AA79D-F90B-C799-E712-2861D4316884}"/>
              </a:ext>
            </a:extLst>
          </p:cNvPr>
          <p:cNvSpPr txBox="1">
            <a:spLocks/>
          </p:cNvSpPr>
          <p:nvPr/>
        </p:nvSpPr>
        <p:spPr>
          <a:xfrm>
            <a:off x="400050" y="584990"/>
            <a:ext cx="11404600" cy="11168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en-US" dirty="0" err="1">
                <a:cs typeface="Segoe UI Light" panose="020B0502040204020203" pitchFamily="34" charset="0"/>
              </a:rPr>
              <a:t>Analyse-Ergebnisse</a:t>
            </a:r>
            <a:endParaRPr lang="en-US" dirty="0"/>
          </a:p>
          <a:p>
            <a:r>
              <a:rPr lang="en-US" sz="3000" dirty="0"/>
              <a:t>SQL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FD1156-D9AB-6ED5-4006-4FD9B594728D}"/>
              </a:ext>
            </a:extLst>
          </p:cNvPr>
          <p:cNvSpPr/>
          <p:nvPr/>
        </p:nvSpPr>
        <p:spPr>
          <a:xfrm>
            <a:off x="1445186" y="2676791"/>
            <a:ext cx="1887187" cy="1887187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dirty="0"/>
          </a:p>
        </p:txBody>
      </p:sp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D0E4A6F4-9181-806A-C7D1-5F3A41034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1580" y="3099391"/>
            <a:ext cx="914400" cy="9144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B40BBA1-B72E-D172-BB91-9EADD47B93E9}"/>
              </a:ext>
            </a:extLst>
          </p:cNvPr>
          <p:cNvSpPr/>
          <p:nvPr/>
        </p:nvSpPr>
        <p:spPr>
          <a:xfrm>
            <a:off x="5158756" y="2770759"/>
            <a:ext cx="1887187" cy="1887187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3" name="Graphic 12" descr="Blender outline">
            <a:extLst>
              <a:ext uri="{FF2B5EF4-FFF2-40B4-BE49-F238E27FC236}">
                <a16:creationId xmlns:a16="http://schemas.microsoft.com/office/drawing/2014/main" id="{9375E755-9ED8-9C72-DDC3-5CB2C6713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799" y="3163184"/>
            <a:ext cx="914400" cy="914400"/>
          </a:xfrm>
          <a:prstGeom prst="rect">
            <a:avLst/>
          </a:prstGeom>
        </p:spPr>
      </p:pic>
      <p:pic>
        <p:nvPicPr>
          <p:cNvPr id="20" name="Graphic 19" descr="Badge New outline">
            <a:extLst>
              <a:ext uri="{FF2B5EF4-FFF2-40B4-BE49-F238E27FC236}">
                <a16:creationId xmlns:a16="http://schemas.microsoft.com/office/drawing/2014/main" id="{7F448B80-AD23-4EDC-974C-0259473A62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3527" y="3257151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990907-7820-EA05-16EF-A65112881067}"/>
              </a:ext>
            </a:extLst>
          </p:cNvPr>
          <p:cNvSpPr txBox="1"/>
          <p:nvPr/>
        </p:nvSpPr>
        <p:spPr>
          <a:xfrm>
            <a:off x="920364" y="5086420"/>
            <a:ext cx="29368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Normalisiertes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Datenmodell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(PostgreSQL, SQLite)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99F26-5FB6-0343-689A-AE861D86F554}"/>
              </a:ext>
            </a:extLst>
          </p:cNvPr>
          <p:cNvSpPr txBox="1"/>
          <p:nvPr/>
        </p:nvSpPr>
        <p:spPr>
          <a:xfrm>
            <a:off x="4690550" y="5077303"/>
            <a:ext cx="28108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Views &amp;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Aggregationen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für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schnelle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Auswertungen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9B51C-9CAB-79A0-BD93-FE109284285B}"/>
              </a:ext>
            </a:extLst>
          </p:cNvPr>
          <p:cNvSpPr txBox="1"/>
          <p:nvPr/>
        </p:nvSpPr>
        <p:spPr>
          <a:xfrm>
            <a:off x="7973004" y="5077303"/>
            <a:ext cx="37354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Vorteil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: Daten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jederzeit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exportierbar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</a:p>
          <a:p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auf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andere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RDBMS </a:t>
            </a:r>
            <a:r>
              <a:rPr lang="en-US" alt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übertragbar</a:t>
            </a:r>
            <a:r>
              <a:rPr lang="en-US" alt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63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2DFBD73-43FB-F1BE-45B7-DAD8BBBFE37C}"/>
              </a:ext>
            </a:extLst>
          </p:cNvPr>
          <p:cNvSpPr/>
          <p:nvPr/>
        </p:nvSpPr>
        <p:spPr>
          <a:xfrm>
            <a:off x="2908578" y="2241665"/>
            <a:ext cx="6326332" cy="935048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89E645B-8EA0-1936-988E-0DCA622E7E6C}"/>
              </a:ext>
            </a:extLst>
          </p:cNvPr>
          <p:cNvSpPr/>
          <p:nvPr/>
        </p:nvSpPr>
        <p:spPr>
          <a:xfrm>
            <a:off x="2907847" y="3311095"/>
            <a:ext cx="6342479" cy="925922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984E715-F7EC-3957-8A83-94EA0736C4ED}"/>
              </a:ext>
            </a:extLst>
          </p:cNvPr>
          <p:cNvSpPr/>
          <p:nvPr/>
        </p:nvSpPr>
        <p:spPr>
          <a:xfrm>
            <a:off x="2907846" y="4376530"/>
            <a:ext cx="6342479" cy="925922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3AE3AB-B609-CD53-EBFF-951F80EC16F4}"/>
              </a:ext>
            </a:extLst>
          </p:cNvPr>
          <p:cNvSpPr/>
          <p:nvPr/>
        </p:nvSpPr>
        <p:spPr>
          <a:xfrm>
            <a:off x="2907845" y="5441965"/>
            <a:ext cx="6342479" cy="925922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AD83A07-FAD1-1EB6-7694-D37592D5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291E66-E6D6-6775-77C8-45170E79DADF}"/>
              </a:ext>
            </a:extLst>
          </p:cNvPr>
          <p:cNvSpPr txBox="1">
            <a:spLocks/>
          </p:cNvSpPr>
          <p:nvPr/>
        </p:nvSpPr>
        <p:spPr>
          <a:xfrm>
            <a:off x="400050" y="584990"/>
            <a:ext cx="11404600" cy="11168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en-US" dirty="0" err="1">
                <a:cs typeface="Segoe UI Light" panose="020B0502040204020203" pitchFamily="34" charset="0"/>
              </a:rPr>
              <a:t>Analyse-Ergebnisse</a:t>
            </a:r>
            <a:endParaRPr lang="en-US" dirty="0"/>
          </a:p>
          <a:p>
            <a:r>
              <a:rPr lang="en-US" sz="3000" dirty="0"/>
              <a:t>Python</a:t>
            </a:r>
          </a:p>
        </p:txBody>
      </p:sp>
      <p:sp>
        <p:nvSpPr>
          <p:cNvPr id="34" name="Rectangle 33" descr="Bar chart">
            <a:extLst>
              <a:ext uri="{FF2B5EF4-FFF2-40B4-BE49-F238E27FC236}">
                <a16:creationId xmlns:a16="http://schemas.microsoft.com/office/drawing/2014/main" id="{AA354B6D-D67B-8B72-15D1-ACAB7DD92C05}"/>
              </a:ext>
            </a:extLst>
          </p:cNvPr>
          <p:cNvSpPr/>
          <p:nvPr/>
        </p:nvSpPr>
        <p:spPr>
          <a:xfrm>
            <a:off x="3216756" y="2365272"/>
            <a:ext cx="625998" cy="61804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4992B58-7B1E-B76E-2E9C-C10EF40A80AD}"/>
              </a:ext>
            </a:extLst>
          </p:cNvPr>
          <p:cNvGrpSpPr/>
          <p:nvPr/>
        </p:nvGrpSpPr>
        <p:grpSpPr>
          <a:xfrm>
            <a:off x="3984292" y="2241665"/>
            <a:ext cx="5282181" cy="935048"/>
            <a:chOff x="1307139" y="2232"/>
            <a:chExt cx="5065226" cy="113172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A38BFB1-D3C1-4176-3891-2C9BB3C060C1}"/>
                </a:ext>
              </a:extLst>
            </p:cNvPr>
            <p:cNvSpPr/>
            <p:nvPr/>
          </p:nvSpPr>
          <p:spPr>
            <a:xfrm>
              <a:off x="1307139" y="2232"/>
              <a:ext cx="5065226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09670B-FEF0-A916-5972-2E233B069FD1}"/>
                </a:ext>
              </a:extLst>
            </p:cNvPr>
            <p:cNvSpPr txBox="1"/>
            <p:nvPr/>
          </p:nvSpPr>
          <p:spPr>
            <a:xfrm>
              <a:off x="1307139" y="2232"/>
              <a:ext cx="5065226" cy="1131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EDA, </a:t>
              </a:r>
              <a:r>
                <a:rPr lang="en-US" sz="22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Grafische</a:t>
              </a: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2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Analyse</a:t>
              </a: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, Dashboard </a:t>
              </a:r>
            </a:p>
          </p:txBody>
        </p:sp>
      </p:grpSp>
      <p:sp>
        <p:nvSpPr>
          <p:cNvPr id="37" name="Rectangle 36" descr="Tools">
            <a:extLst>
              <a:ext uri="{FF2B5EF4-FFF2-40B4-BE49-F238E27FC236}">
                <a16:creationId xmlns:a16="http://schemas.microsoft.com/office/drawing/2014/main" id="{B0875172-F412-0262-D1C4-20DCE38287A3}"/>
              </a:ext>
            </a:extLst>
          </p:cNvPr>
          <p:cNvSpPr/>
          <p:nvPr/>
        </p:nvSpPr>
        <p:spPr>
          <a:xfrm>
            <a:off x="3281972" y="3515959"/>
            <a:ext cx="560782" cy="514276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BB5FE9-C249-54A3-E963-74CA26E9C393}"/>
              </a:ext>
            </a:extLst>
          </p:cNvPr>
          <p:cNvGrpSpPr/>
          <p:nvPr/>
        </p:nvGrpSpPr>
        <p:grpSpPr>
          <a:xfrm>
            <a:off x="4148857" y="3249697"/>
            <a:ext cx="2869779" cy="974547"/>
            <a:chOff x="1141915" y="1416886"/>
            <a:chExt cx="3032788" cy="141582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64D5DE-4678-B697-8DC5-4874CAB0FE78}"/>
                </a:ext>
              </a:extLst>
            </p:cNvPr>
            <p:cNvSpPr/>
            <p:nvPr/>
          </p:nvSpPr>
          <p:spPr>
            <a:xfrm>
              <a:off x="1307139" y="1416886"/>
              <a:ext cx="2867564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1545A4-6762-074B-7925-F4E7C51CAE47}"/>
                </a:ext>
              </a:extLst>
            </p:cNvPr>
            <p:cNvSpPr txBox="1"/>
            <p:nvPr/>
          </p:nvSpPr>
          <p:spPr>
            <a:xfrm>
              <a:off x="1141915" y="1487528"/>
              <a:ext cx="2889991" cy="13451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Admin-Tool: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1EBBC3-166A-3D3F-E58F-57A563B79E9D}"/>
              </a:ext>
            </a:extLst>
          </p:cNvPr>
          <p:cNvGrpSpPr/>
          <p:nvPr/>
        </p:nvGrpSpPr>
        <p:grpSpPr>
          <a:xfrm>
            <a:off x="6961940" y="3249697"/>
            <a:ext cx="2304534" cy="976898"/>
            <a:chOff x="3936932" y="1416886"/>
            <a:chExt cx="2435433" cy="141923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F5DAE2-3DDF-CCDF-7787-05703CFD6922}"/>
                </a:ext>
              </a:extLst>
            </p:cNvPr>
            <p:cNvSpPr/>
            <p:nvPr/>
          </p:nvSpPr>
          <p:spPr>
            <a:xfrm>
              <a:off x="4174704" y="1416886"/>
              <a:ext cx="2197661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BB5678F-CA1E-350F-6F93-2E308BD0FAE9}"/>
                </a:ext>
              </a:extLst>
            </p:cNvPr>
            <p:cNvSpPr txBox="1"/>
            <p:nvPr/>
          </p:nvSpPr>
          <p:spPr>
            <a:xfrm>
              <a:off x="3936932" y="1513539"/>
              <a:ext cx="2402075" cy="13225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i="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KPI-Definition, </a:t>
              </a:r>
              <a:r>
                <a:rPr lang="en-US" sz="1800" i="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Diagramm</a:t>
              </a:r>
              <a:r>
                <a:rPr lang="en-US" sz="1800" i="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-Wahl </a:t>
              </a:r>
              <a:endParaRPr lang="en-US" sz="1800" kern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41" name="Rectangle 40" descr="Database">
            <a:extLst>
              <a:ext uri="{FF2B5EF4-FFF2-40B4-BE49-F238E27FC236}">
                <a16:creationId xmlns:a16="http://schemas.microsoft.com/office/drawing/2014/main" id="{8E1AD98E-A4EA-5B16-7C0F-39AB779D77EB}"/>
              </a:ext>
            </a:extLst>
          </p:cNvPr>
          <p:cNvSpPr/>
          <p:nvPr/>
        </p:nvSpPr>
        <p:spPr>
          <a:xfrm>
            <a:off x="3216756" y="4589171"/>
            <a:ext cx="649108" cy="514276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BB5236D-5D14-5773-3AD0-B29D7887D9C9}"/>
              </a:ext>
            </a:extLst>
          </p:cNvPr>
          <p:cNvGrpSpPr/>
          <p:nvPr/>
        </p:nvGrpSpPr>
        <p:grpSpPr>
          <a:xfrm>
            <a:off x="4148857" y="4366109"/>
            <a:ext cx="3038074" cy="1032985"/>
            <a:chOff x="1261412" y="2713001"/>
            <a:chExt cx="2913291" cy="125026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DEE5C23-ACA5-93A2-1900-BA044E6430B8}"/>
                </a:ext>
              </a:extLst>
            </p:cNvPr>
            <p:cNvSpPr/>
            <p:nvPr/>
          </p:nvSpPr>
          <p:spPr>
            <a:xfrm>
              <a:off x="1307139" y="2831539"/>
              <a:ext cx="2867564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4ADE5D8-E3E9-BAEF-6E06-3EDD8C097E83}"/>
                </a:ext>
              </a:extLst>
            </p:cNvPr>
            <p:cNvSpPr txBox="1"/>
            <p:nvPr/>
          </p:nvSpPr>
          <p:spPr>
            <a:xfrm>
              <a:off x="1261412" y="2713001"/>
              <a:ext cx="2867564" cy="1131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Export: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5E281E-DCEF-A279-57F3-B5509C644F90}"/>
              </a:ext>
            </a:extLst>
          </p:cNvPr>
          <p:cNvGrpSpPr/>
          <p:nvPr/>
        </p:nvGrpSpPr>
        <p:grpSpPr>
          <a:xfrm>
            <a:off x="6961941" y="4373619"/>
            <a:ext cx="2348496" cy="1069726"/>
            <a:chOff x="4120328" y="2668532"/>
            <a:chExt cx="2252037" cy="129472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44AD79E-C01A-1BB7-2200-A753FA27A85A}"/>
                </a:ext>
              </a:extLst>
            </p:cNvPr>
            <p:cNvSpPr/>
            <p:nvPr/>
          </p:nvSpPr>
          <p:spPr>
            <a:xfrm>
              <a:off x="4174704" y="2831539"/>
              <a:ext cx="2197661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5EC7771-8ABD-D901-78E4-C1C599DDC7DC}"/>
                </a:ext>
              </a:extLst>
            </p:cNvPr>
            <p:cNvSpPr txBox="1"/>
            <p:nvPr/>
          </p:nvSpPr>
          <p:spPr>
            <a:xfrm>
              <a:off x="4120328" y="2668532"/>
              <a:ext cx="2197661" cy="11317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i="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SQL, CSV, XML </a:t>
              </a:r>
              <a:endParaRPr lang="en-US" sz="1800" kern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45" name="Rectangle 44" descr="Wedding Cake">
            <a:extLst>
              <a:ext uri="{FF2B5EF4-FFF2-40B4-BE49-F238E27FC236}">
                <a16:creationId xmlns:a16="http://schemas.microsoft.com/office/drawing/2014/main" id="{D32BEBC6-8C19-E797-48E8-F8166ECB2AB4}"/>
              </a:ext>
            </a:extLst>
          </p:cNvPr>
          <p:cNvSpPr/>
          <p:nvPr/>
        </p:nvSpPr>
        <p:spPr>
          <a:xfrm>
            <a:off x="3216756" y="5625102"/>
            <a:ext cx="649108" cy="514276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153BD72-51A1-A4AC-803D-36EAC5ADB6F4}"/>
              </a:ext>
            </a:extLst>
          </p:cNvPr>
          <p:cNvGrpSpPr/>
          <p:nvPr/>
        </p:nvGrpSpPr>
        <p:grpSpPr>
          <a:xfrm>
            <a:off x="4148857" y="5443346"/>
            <a:ext cx="5282181" cy="1414654"/>
            <a:chOff x="1307139" y="3665709"/>
            <a:chExt cx="5065226" cy="171220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0FE8D96-9568-0475-F95B-087F94FA074B}"/>
                </a:ext>
              </a:extLst>
            </p:cNvPr>
            <p:cNvSpPr/>
            <p:nvPr/>
          </p:nvSpPr>
          <p:spPr>
            <a:xfrm>
              <a:off x="1307139" y="4246193"/>
              <a:ext cx="5065226" cy="11317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6018EA-515E-9F87-40D7-00ED979B5C82}"/>
                </a:ext>
              </a:extLst>
            </p:cNvPr>
            <p:cNvSpPr txBox="1"/>
            <p:nvPr/>
          </p:nvSpPr>
          <p:spPr>
            <a:xfrm>
              <a:off x="1307139" y="3665709"/>
              <a:ext cx="5065226" cy="1131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9774" tIns="119774" rIns="119774" bIns="119774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Hilfsklassen</a:t>
              </a: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(</a:t>
              </a:r>
              <a:r>
                <a:rPr lang="en-US" sz="22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WikiTumblerFoo</a:t>
              </a:r>
              <a:r>
                <a:rPr lang="en-US" sz="22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Package)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81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F731-736B-F5DA-EB9B-1ED906B5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A1666BE-4912-594D-7CF2-90D655F8ABBD}"/>
              </a:ext>
            </a:extLst>
          </p:cNvPr>
          <p:cNvSpPr txBox="1">
            <a:spLocks/>
          </p:cNvSpPr>
          <p:nvPr/>
        </p:nvSpPr>
        <p:spPr>
          <a:xfrm>
            <a:off x="400050" y="584990"/>
            <a:ext cx="693964" cy="580548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vert270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cs typeface="Segoe UI Light" panose="020B0502040204020203" pitchFamily="34" charset="0"/>
              </a:rPr>
              <a:t>Python-Dashboard</a:t>
            </a:r>
            <a:endParaRPr lang="en-US" sz="3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653439-ABBC-C488-8CAB-A1144E7111A0}"/>
              </a:ext>
            </a:extLst>
          </p:cNvPr>
          <p:cNvSpPr/>
          <p:nvPr/>
        </p:nvSpPr>
        <p:spPr>
          <a:xfrm>
            <a:off x="4148857" y="5922952"/>
            <a:ext cx="5282181" cy="93504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9298D46-D4FD-50EC-B15C-92454CF26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947" y="584988"/>
            <a:ext cx="5076455" cy="3058563"/>
          </a:xfrm>
          <a:prstGeom prst="rect">
            <a:avLst/>
          </a:prstGeom>
        </p:spPr>
      </p:pic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A786E279-D068-B234-C79F-1F694AB48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54" y="3971562"/>
            <a:ext cx="5076453" cy="241891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D81DE1-F4F1-1102-0192-631D4982DB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54" y="584988"/>
            <a:ext cx="5076453" cy="30585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9857708-838F-28DD-1FB4-2D99EEA01151}"/>
              </a:ext>
            </a:extLst>
          </p:cNvPr>
          <p:cNvSpPr/>
          <p:nvPr/>
        </p:nvSpPr>
        <p:spPr>
          <a:xfrm>
            <a:off x="6789947" y="3971562"/>
            <a:ext cx="5076453" cy="2418911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9E1DEF6-B35B-7032-4030-48105257F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014" y="3971563"/>
            <a:ext cx="3668592" cy="241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0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6655-2DD3-244B-0E8D-5D42EA49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F05F79-8F6D-C0F7-D3DD-A420E099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9E103B7-BB3A-812D-2805-96A2B67B9E2D}"/>
              </a:ext>
            </a:extLst>
          </p:cNvPr>
          <p:cNvSpPr txBox="1">
            <a:spLocks/>
          </p:cNvSpPr>
          <p:nvPr/>
        </p:nvSpPr>
        <p:spPr>
          <a:xfrm>
            <a:off x="400050" y="584990"/>
            <a:ext cx="11404600" cy="11168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onstantia" panose="02030602050306030303" pitchFamily="18" charset="0"/>
                <a:ea typeface="+mj-ea"/>
                <a:cs typeface="+mj-cs"/>
              </a:defRPr>
            </a:lvl1pPr>
          </a:lstStyle>
          <a:p>
            <a:r>
              <a:rPr lang="en-US" dirty="0" err="1">
                <a:cs typeface="Segoe UI Light" panose="020B0502040204020203" pitchFamily="34" charset="0"/>
              </a:rPr>
              <a:t>Analyse-Ergebnisse</a:t>
            </a:r>
            <a:endParaRPr lang="en-US" dirty="0"/>
          </a:p>
          <a:p>
            <a:r>
              <a:rPr lang="en-US" sz="3000" dirty="0"/>
              <a:t>KNIME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7ACCF6-8857-FC57-30D6-4FC88AE1F3F8}"/>
              </a:ext>
            </a:extLst>
          </p:cNvPr>
          <p:cNvGrpSpPr/>
          <p:nvPr/>
        </p:nvGrpSpPr>
        <p:grpSpPr>
          <a:xfrm>
            <a:off x="3057269" y="5262519"/>
            <a:ext cx="6090162" cy="1249020"/>
            <a:chOff x="0" y="3805411"/>
            <a:chExt cx="6090162" cy="12490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01C47F-8677-A156-FBB8-C3DE78C8128F}"/>
                </a:ext>
              </a:extLst>
            </p:cNvPr>
            <p:cNvSpPr/>
            <p:nvPr/>
          </p:nvSpPr>
          <p:spPr>
            <a:xfrm>
              <a:off x="0" y="3805411"/>
              <a:ext cx="6090162" cy="124902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5DD81E-AA42-B77D-F2D2-D7442B8E5C01}"/>
                </a:ext>
              </a:extLst>
            </p:cNvPr>
            <p:cNvSpPr txBox="1"/>
            <p:nvPr/>
          </p:nvSpPr>
          <p:spPr>
            <a:xfrm>
              <a:off x="0" y="3887519"/>
              <a:ext cx="6090162" cy="11669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170688" rIns="170688" bIns="17068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Fazit</a:t>
              </a:r>
              <a:r>
                <a:rPr lang="en-US" sz="2400" b="1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: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Modell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funktioniert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nicht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→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Datenbasis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zu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schwach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9D561C3-00CE-19D2-EE20-F9ECD6E823A8}"/>
              </a:ext>
            </a:extLst>
          </p:cNvPr>
          <p:cNvGrpSpPr/>
          <p:nvPr/>
        </p:nvGrpSpPr>
        <p:grpSpPr>
          <a:xfrm>
            <a:off x="3050919" y="3572462"/>
            <a:ext cx="6090162" cy="1883112"/>
            <a:chOff x="0" y="1903152"/>
            <a:chExt cx="6090162" cy="1920994"/>
          </a:xfrm>
        </p:grpSpPr>
        <p:sp>
          <p:nvSpPr>
            <p:cNvPr id="12" name="Callout: Up Arrow 11">
              <a:extLst>
                <a:ext uri="{FF2B5EF4-FFF2-40B4-BE49-F238E27FC236}">
                  <a16:creationId xmlns:a16="http://schemas.microsoft.com/office/drawing/2014/main" id="{18FB76EE-0393-EFBE-5833-D47A595F3B5B}"/>
                </a:ext>
              </a:extLst>
            </p:cNvPr>
            <p:cNvSpPr/>
            <p:nvPr/>
          </p:nvSpPr>
          <p:spPr>
            <a:xfrm rot="10800000">
              <a:off x="0" y="1903152"/>
              <a:ext cx="6090162" cy="192099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652179"/>
                <a:satOff val="10204"/>
                <a:lumOff val="8824"/>
                <a:alphaOff val="0"/>
              </a:schemeClr>
            </a:fillRef>
            <a:effectRef idx="0">
              <a:schemeClr val="accent2">
                <a:hueOff val="652179"/>
                <a:satOff val="10204"/>
                <a:lumOff val="882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Callout: Up Arrow 6">
              <a:extLst>
                <a:ext uri="{FF2B5EF4-FFF2-40B4-BE49-F238E27FC236}">
                  <a16:creationId xmlns:a16="http://schemas.microsoft.com/office/drawing/2014/main" id="{2E9CA5B6-06D1-3E17-8EE1-DE81F457AEAC}"/>
                </a:ext>
              </a:extLst>
            </p:cNvPr>
            <p:cNvSpPr txBox="1"/>
            <p:nvPr/>
          </p:nvSpPr>
          <p:spPr>
            <a:xfrm>
              <a:off x="0" y="1903152"/>
              <a:ext cx="6090162" cy="6742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170688" rIns="170688" bIns="17068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Tabelle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mit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Key-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Metriken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: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1EDF99-9DDB-76F4-106A-A72BA2B472E5}"/>
              </a:ext>
            </a:extLst>
          </p:cNvPr>
          <p:cNvGrpSpPr/>
          <p:nvPr/>
        </p:nvGrpSpPr>
        <p:grpSpPr>
          <a:xfrm>
            <a:off x="3050919" y="1906767"/>
            <a:ext cx="6090162" cy="1822348"/>
            <a:chOff x="0" y="893"/>
            <a:chExt cx="6090162" cy="1920994"/>
          </a:xfrm>
        </p:grpSpPr>
        <p:sp>
          <p:nvSpPr>
            <p:cNvPr id="10" name="Callout: Up Arrow 9">
              <a:extLst>
                <a:ext uri="{FF2B5EF4-FFF2-40B4-BE49-F238E27FC236}">
                  <a16:creationId xmlns:a16="http://schemas.microsoft.com/office/drawing/2014/main" id="{50A73DEC-066E-3582-4D17-183871C3E97A}"/>
                </a:ext>
              </a:extLst>
            </p:cNvPr>
            <p:cNvSpPr/>
            <p:nvPr/>
          </p:nvSpPr>
          <p:spPr>
            <a:xfrm rot="10800000">
              <a:off x="0" y="893"/>
              <a:ext cx="6090162" cy="192099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1304357"/>
                <a:satOff val="20407"/>
                <a:lumOff val="17647"/>
                <a:alphaOff val="0"/>
              </a:schemeClr>
            </a:fillRef>
            <a:effectRef idx="0">
              <a:schemeClr val="accent2">
                <a:hueOff val="1304357"/>
                <a:satOff val="20407"/>
                <a:lumOff val="1764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Callout: Up Arrow 8">
              <a:extLst>
                <a:ext uri="{FF2B5EF4-FFF2-40B4-BE49-F238E27FC236}">
                  <a16:creationId xmlns:a16="http://schemas.microsoft.com/office/drawing/2014/main" id="{7E7DD52E-4CA4-F9C2-F40B-B255B1EDC897}"/>
                </a:ext>
              </a:extLst>
            </p:cNvPr>
            <p:cNvSpPr txBox="1"/>
            <p:nvPr/>
          </p:nvSpPr>
          <p:spPr>
            <a:xfrm rot="21600000">
              <a:off x="0" y="893"/>
              <a:ext cx="6090162" cy="12482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170688" rIns="170688" bIns="17068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Lineare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Regression: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Umsatz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  <a:r>
                <a:rPr lang="en-US" sz="24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prognostizieren</a:t>
              </a:r>
              <a:r>
                <a:rPr lang="en-US" sz="24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541119-F8B6-4D46-8C31-87AAF95D4E10}"/>
              </a:ext>
            </a:extLst>
          </p:cNvPr>
          <p:cNvGrpSpPr/>
          <p:nvPr/>
        </p:nvGrpSpPr>
        <p:grpSpPr>
          <a:xfrm>
            <a:off x="3056867" y="4206554"/>
            <a:ext cx="2028071" cy="574377"/>
            <a:chOff x="2973" y="2577421"/>
            <a:chExt cx="2028071" cy="57437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45554A-54F7-05E7-3FEB-42C42E29B002}"/>
                </a:ext>
              </a:extLst>
            </p:cNvPr>
            <p:cNvSpPr/>
            <p:nvPr/>
          </p:nvSpPr>
          <p:spPr>
            <a:xfrm>
              <a:off x="2973" y="2577421"/>
              <a:ext cx="2028071" cy="574377"/>
            </a:xfrm>
            <a:prstGeom prst="rect">
              <a:avLst/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996FFA-6D06-7B5D-2F2D-09AACEDE4CF3}"/>
                </a:ext>
              </a:extLst>
            </p:cNvPr>
            <p:cNvSpPr txBox="1"/>
            <p:nvPr/>
          </p:nvSpPr>
          <p:spPr>
            <a:xfrm>
              <a:off x="2973" y="2577421"/>
              <a:ext cx="2028071" cy="5743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R² = -0,753 (</a:t>
              </a:r>
              <a:r>
                <a:rPr lang="en-US" sz="18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schlecht</a:t>
              </a:r>
              <a:r>
                <a:rPr lang="en-US" sz="18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!)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DE8260-8828-B26C-9FC5-2D80BDBFBC4B}"/>
              </a:ext>
            </a:extLst>
          </p:cNvPr>
          <p:cNvGrpSpPr/>
          <p:nvPr/>
        </p:nvGrpSpPr>
        <p:grpSpPr>
          <a:xfrm>
            <a:off x="5084939" y="4206554"/>
            <a:ext cx="2028071" cy="574377"/>
            <a:chOff x="2031045" y="2577421"/>
            <a:chExt cx="2028071" cy="57437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AE1B13-BC7D-CE89-5EF6-857BF387FBDA}"/>
                </a:ext>
              </a:extLst>
            </p:cNvPr>
            <p:cNvSpPr/>
            <p:nvPr/>
          </p:nvSpPr>
          <p:spPr>
            <a:xfrm>
              <a:off x="2031045" y="2577421"/>
              <a:ext cx="2028071" cy="574377"/>
            </a:xfrm>
            <a:prstGeom prst="rect">
              <a:avLst/>
            </a:prstGeom>
          </p:spPr>
          <p:style>
            <a:lnRef idx="2">
              <a:schemeClr val="accent2">
                <a:tint val="40000"/>
                <a:alpha val="90000"/>
                <a:hueOff val="806314"/>
                <a:satOff val="5968"/>
                <a:lumOff val="1286"/>
                <a:alphaOff val="0"/>
              </a:schemeClr>
            </a:lnRef>
            <a:fillRef idx="1">
              <a:schemeClr val="accent2">
                <a:tint val="40000"/>
                <a:alpha val="90000"/>
                <a:hueOff val="806314"/>
                <a:satOff val="5968"/>
                <a:lumOff val="1286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806314"/>
                <a:satOff val="5968"/>
                <a:lumOff val="128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58AE42-791C-8396-AF13-97C04F81B041}"/>
                </a:ext>
              </a:extLst>
            </p:cNvPr>
            <p:cNvSpPr txBox="1"/>
            <p:nvPr/>
          </p:nvSpPr>
          <p:spPr>
            <a:xfrm>
              <a:off x="2031045" y="2577421"/>
              <a:ext cx="2028071" cy="5743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RMSE = 512,485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C5F750-3F03-5384-28A3-84934419021C}"/>
              </a:ext>
            </a:extLst>
          </p:cNvPr>
          <p:cNvGrpSpPr/>
          <p:nvPr/>
        </p:nvGrpSpPr>
        <p:grpSpPr>
          <a:xfrm>
            <a:off x="7113010" y="4206554"/>
            <a:ext cx="2028071" cy="574377"/>
            <a:chOff x="4059116" y="2577421"/>
            <a:chExt cx="2028071" cy="57437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B7F0F-4F05-44C3-9DB3-C638B69B64D7}"/>
                </a:ext>
              </a:extLst>
            </p:cNvPr>
            <p:cNvSpPr/>
            <p:nvPr/>
          </p:nvSpPr>
          <p:spPr>
            <a:xfrm>
              <a:off x="4059116" y="2577421"/>
              <a:ext cx="2028071" cy="574377"/>
            </a:xfrm>
            <a:prstGeom prst="rect">
              <a:avLst/>
            </a:prstGeom>
          </p:spPr>
          <p:style>
            <a:lnRef idx="2">
              <a:schemeClr val="accent2">
                <a:tint val="40000"/>
                <a:alpha val="90000"/>
                <a:hueOff val="1612628"/>
                <a:satOff val="11935"/>
                <a:lumOff val="2572"/>
                <a:alphaOff val="0"/>
              </a:schemeClr>
            </a:lnRef>
            <a:fillRef idx="1">
              <a:schemeClr val="accent2">
                <a:tint val="40000"/>
                <a:alpha val="90000"/>
                <a:hueOff val="1612628"/>
                <a:satOff val="11935"/>
                <a:lumOff val="2572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1612628"/>
                <a:satOff val="11935"/>
                <a:lumOff val="257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AADADF-2457-F4C6-6BB3-68BB664DF642}"/>
                </a:ext>
              </a:extLst>
            </p:cNvPr>
            <p:cNvSpPr txBox="1"/>
            <p:nvPr/>
          </p:nvSpPr>
          <p:spPr>
            <a:xfrm>
              <a:off x="4059116" y="2577421"/>
              <a:ext cx="2028071" cy="5743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Adjusted R² = 1,438 (</a:t>
              </a:r>
              <a:r>
                <a:rPr lang="en-US" sz="1800" kern="1200" dirty="0" err="1">
                  <a:latin typeface="Segoe UI Light" panose="020B0502040204020203" pitchFamily="34" charset="0"/>
                  <a:cs typeface="Segoe UI Light" panose="020B0502040204020203" pitchFamily="34" charset="0"/>
                </a:rPr>
                <a:t>unplausibel</a:t>
              </a:r>
              <a:r>
                <a:rPr lang="en-US" sz="1800" kern="12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41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DA29DE-57E8-FAEC-1666-8AA6877B08D9}"/>
              </a:ext>
            </a:extLst>
          </p:cNvPr>
          <p:cNvSpPr/>
          <p:nvPr/>
        </p:nvSpPr>
        <p:spPr>
          <a:xfrm>
            <a:off x="6233778" y="2061470"/>
            <a:ext cx="5031855" cy="41325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02DDB-908C-5EE0-93A7-3790AA2F8FA8}"/>
              </a:ext>
            </a:extLst>
          </p:cNvPr>
          <p:cNvSpPr/>
          <p:nvPr/>
        </p:nvSpPr>
        <p:spPr>
          <a:xfrm>
            <a:off x="926367" y="2061469"/>
            <a:ext cx="4968062" cy="41325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10BFF-904F-53A5-FA89-039F7D578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84990"/>
            <a:ext cx="11328400" cy="1116811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err="1"/>
              <a:t>Datenprobleme</a:t>
            </a:r>
            <a:r>
              <a:rPr lang="en-US" dirty="0"/>
              <a:t> &amp; </a:t>
            </a:r>
            <a:r>
              <a:rPr lang="en-US" dirty="0" err="1"/>
              <a:t>Lösungen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2E88B9-D5B0-5D14-302F-AC247B9E8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493" y="2061469"/>
            <a:ext cx="4472763" cy="4132521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3200" dirty="0" err="1">
                <a:latin typeface="Constantia" panose="02030602050306030303" pitchFamily="18" charset="0"/>
              </a:rPr>
              <a:t>Probleme</a:t>
            </a:r>
            <a:endParaRPr lang="en-US" altLang="en-US" sz="3200" dirty="0">
              <a:latin typeface="Constantia" panose="02030602050306030303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/>
              <a:t> </a:t>
            </a:r>
            <a:r>
              <a:rPr lang="en-US" altLang="en-US" dirty="0" err="1"/>
              <a:t>Nullwerte</a:t>
            </a:r>
            <a:r>
              <a:rPr lang="en-US" altLang="en-US" dirty="0"/>
              <a:t>, fehlende </a:t>
            </a:r>
            <a:r>
              <a:rPr lang="en-US" altLang="en-US" dirty="0" err="1"/>
              <a:t>Datumsangaben</a:t>
            </a:r>
            <a:r>
              <a:rPr lang="en-US" altLang="en-US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/>
              <a:t> Session-Tracking </a:t>
            </a:r>
            <a:r>
              <a:rPr lang="en-US" altLang="en-US" dirty="0" err="1"/>
              <a:t>fehlerhaft</a:t>
            </a:r>
            <a:r>
              <a:rPr lang="en-US" altLang="en-US" dirty="0"/>
              <a:t> </a:t>
            </a:r>
            <a:r>
              <a:rPr lang="en-US" altLang="en-US" dirty="0" err="1"/>
              <a:t>aggregiert</a:t>
            </a:r>
            <a:r>
              <a:rPr lang="en-US" altLang="en-US"/>
              <a:t> Conversion-Rate </a:t>
            </a:r>
            <a:r>
              <a:rPr lang="en-US" altLang="en-US" dirty="0" err="1"/>
              <a:t>verfälscht</a:t>
            </a:r>
            <a:r>
              <a:rPr lang="en-US" altLang="en-US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dirty="0"/>
              <a:t>(Web-Crawler </a:t>
            </a:r>
            <a:r>
              <a:rPr lang="en-US" altLang="en-US" dirty="0" err="1"/>
              <a:t>mitgezählt</a:t>
            </a:r>
            <a:r>
              <a:rPr lang="en-US" altLang="en-US" dirty="0"/>
              <a:t>!)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/>
              <a:t> </a:t>
            </a:r>
            <a:r>
              <a:rPr lang="en-US" altLang="en-US" dirty="0" err="1"/>
              <a:t>Datendiskrepanzen</a:t>
            </a:r>
            <a:r>
              <a:rPr lang="en-US" altLang="en-US" dirty="0"/>
              <a:t> </a:t>
            </a:r>
            <a:r>
              <a:rPr lang="en-US" altLang="en-US" dirty="0" err="1"/>
              <a:t>zwischen</a:t>
            </a:r>
            <a:r>
              <a:rPr lang="en-US" altLang="en-US" dirty="0"/>
              <a:t> </a:t>
            </a:r>
            <a:r>
              <a:rPr lang="en-US" altLang="en-US" dirty="0" err="1"/>
              <a:t>Dateien</a:t>
            </a: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610FB-785C-2468-4026-DE41686B3B09}"/>
              </a:ext>
            </a:extLst>
          </p:cNvPr>
          <p:cNvSpPr txBox="1"/>
          <p:nvPr/>
        </p:nvSpPr>
        <p:spPr>
          <a:xfrm>
            <a:off x="6492951" y="2061469"/>
            <a:ext cx="45365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 err="1">
                <a:latin typeface="Constantia" panose="02030602050306030303" pitchFamily="18" charset="0"/>
                <a:cs typeface="Segoe UI Light" panose="020B0502040204020203" pitchFamily="34" charset="0"/>
              </a:rPr>
              <a:t>Lösungen</a:t>
            </a:r>
            <a:endParaRPr lang="en-US" altLang="en-US" sz="3200" dirty="0">
              <a:latin typeface="Constantia" panose="02030602050306030303" pitchFamily="18" charset="0"/>
              <a:cs typeface="Segoe UI Light" panose="020B0502040204020203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Aggregation auf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Monatsbasis</a:t>
            </a: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Abstimmung</a:t>
            </a: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mit</a:t>
            </a: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Auftraggeber</a:t>
            </a: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Fehlerhafte</a:t>
            </a:r>
            <a:r>
              <a:rPr lang="en-US" alt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Daten </a:t>
            </a:r>
            <a:r>
              <a:rPr lang="en-US" altLang="en-US" sz="20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ausgeschlossen</a:t>
            </a:r>
            <a:endParaRPr lang="en-US" alt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88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559C-D6B8-294E-EC1B-9493A0F7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584990"/>
            <a:ext cx="11303000" cy="1116811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/>
              <a:t>Fachliche</a:t>
            </a:r>
            <a:r>
              <a:rPr lang="en-US" dirty="0"/>
              <a:t> </a:t>
            </a:r>
            <a:r>
              <a:rPr lang="en-US" dirty="0" err="1"/>
              <a:t>Ergebnisse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5956111-250F-A1E9-4355-7E8475FA4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417194"/>
              </p:ext>
            </p:extLst>
          </p:nvPr>
        </p:nvGraphicFramePr>
        <p:xfrm>
          <a:off x="838200" y="2061469"/>
          <a:ext cx="10515600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517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2E13CC-4B38-198D-302D-B93358022CEA}"/>
              </a:ext>
            </a:extLst>
          </p:cNvPr>
          <p:cNvSpPr/>
          <p:nvPr/>
        </p:nvSpPr>
        <p:spPr>
          <a:xfrm>
            <a:off x="2805797" y="3429000"/>
            <a:ext cx="6326332" cy="2844010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3E33A-2D25-CB1E-FF73-8758F23A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584990"/>
            <a:ext cx="11290300" cy="111681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6C0D02-1044-0419-3A4C-87913A0C0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72209" y="3429000"/>
            <a:ext cx="57935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Empfehlungen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für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nächste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Phase: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Bessere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Datenqualität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schaffen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(Tracker-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Konfiguration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überprüfen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Session-IDs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konsistent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Web-Crawler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ausschließen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Kontinuierliche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Datenchecks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etablieren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29D869-D273-0E95-DD81-3FE0E5A3DB7D}"/>
              </a:ext>
            </a:extLst>
          </p:cNvPr>
          <p:cNvSpPr/>
          <p:nvPr/>
        </p:nvSpPr>
        <p:spPr>
          <a:xfrm>
            <a:off x="2805798" y="2241665"/>
            <a:ext cx="6326332" cy="935048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4E3CA-D712-10D1-6D44-C64CBF1E468B}"/>
              </a:ext>
            </a:extLst>
          </p:cNvPr>
          <p:cNvSpPr txBox="1"/>
          <p:nvPr/>
        </p:nvSpPr>
        <p:spPr>
          <a:xfrm>
            <a:off x="2957091" y="2524523"/>
            <a:ext cx="6116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PowerBI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: Viel Zeit in Tool-Learning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statt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Fachanalyse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543274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A63F-FC85-B986-F843-E7A58492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29B5-2D69-5C0C-2168-A364A18F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584990"/>
            <a:ext cx="11283950" cy="1116811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/>
              <a:t>Fazit</a:t>
            </a:r>
            <a:r>
              <a:rPr lang="en-US" dirty="0"/>
              <a:t> &amp; </a:t>
            </a:r>
            <a:r>
              <a:rPr lang="en-US" dirty="0" err="1"/>
              <a:t>Ausblick</a:t>
            </a:r>
            <a:r>
              <a:rPr lang="en-US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F20E9-D7C0-FA46-9F46-BE3B5118E799}"/>
              </a:ext>
            </a:extLst>
          </p:cNvPr>
          <p:cNvGrpSpPr/>
          <p:nvPr/>
        </p:nvGrpSpPr>
        <p:grpSpPr>
          <a:xfrm>
            <a:off x="838199" y="2756818"/>
            <a:ext cx="3327201" cy="3740234"/>
            <a:chOff x="821" y="0"/>
            <a:chExt cx="3327201" cy="374023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4C9BBCC-9C2A-B79A-C693-54136DD2B428}"/>
                </a:ext>
              </a:extLst>
            </p:cNvPr>
            <p:cNvSpPr/>
            <p:nvPr/>
          </p:nvSpPr>
          <p:spPr>
            <a:xfrm>
              <a:off x="821" y="0"/>
              <a:ext cx="3327201" cy="3740234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5CA4DF-BD60-8C4A-268E-124F0AEB1B2C}"/>
                </a:ext>
              </a:extLst>
            </p:cNvPr>
            <p:cNvSpPr txBox="1"/>
            <p:nvPr/>
          </p:nvSpPr>
          <p:spPr>
            <a:xfrm>
              <a:off x="821" y="1496093"/>
              <a:ext cx="3327201" cy="22441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0" rIns="32865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0" i="0" kern="1200" baseline="0" dirty="0"/>
                <a:t>Dashboard </a:t>
              </a:r>
              <a:r>
                <a:rPr lang="en-US" sz="2600" b="0" i="0" kern="1200" baseline="0" dirty="0" err="1"/>
                <a:t>ist</a:t>
              </a:r>
              <a:r>
                <a:rPr lang="en-US" sz="2600" b="0" i="0" kern="1200" baseline="0" dirty="0"/>
                <a:t> </a:t>
              </a:r>
              <a:r>
                <a:rPr lang="en-US" sz="2600" b="1" i="0" kern="1200" baseline="0" dirty="0"/>
                <a:t>Proof of Concept</a:t>
              </a:r>
              <a:r>
                <a:rPr lang="en-US" sz="2600" b="0" i="0" kern="1200" baseline="0" dirty="0"/>
                <a:t>, </a:t>
              </a:r>
              <a:r>
                <a:rPr lang="en-US" sz="2600" b="0" i="0" kern="1200" baseline="0" dirty="0" err="1"/>
                <a:t>keine</a:t>
              </a:r>
              <a:r>
                <a:rPr lang="en-US" sz="2600" b="0" i="0" kern="1200" baseline="0" dirty="0"/>
                <a:t> </a:t>
              </a:r>
              <a:r>
                <a:rPr lang="en-US" sz="2600" b="0" i="0" kern="1200" baseline="0" dirty="0" err="1"/>
                <a:t>finalen</a:t>
              </a:r>
              <a:r>
                <a:rPr lang="en-US" sz="2600" b="0" i="0" kern="1200" baseline="0" dirty="0"/>
                <a:t> </a:t>
              </a:r>
              <a:r>
                <a:rPr lang="en-US" sz="2600" b="0" i="0" kern="1200" baseline="0" dirty="0" err="1"/>
                <a:t>Aussagen</a:t>
              </a:r>
              <a:r>
                <a:rPr lang="en-US" sz="2600" b="0" i="0" kern="1200" baseline="0" dirty="0"/>
                <a:t> </a:t>
              </a:r>
              <a:endParaRPr lang="en-US" sz="26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DC0D45-C69C-E390-1A36-FDAE95BB7078}"/>
              </a:ext>
            </a:extLst>
          </p:cNvPr>
          <p:cNvGrpSpPr/>
          <p:nvPr/>
        </p:nvGrpSpPr>
        <p:grpSpPr>
          <a:xfrm>
            <a:off x="4431577" y="2756818"/>
            <a:ext cx="3327201" cy="3740234"/>
            <a:chOff x="3594199" y="0"/>
            <a:chExt cx="3327201" cy="37402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196CE2-3DBC-CA30-241B-7D55921E1533}"/>
                </a:ext>
              </a:extLst>
            </p:cNvPr>
            <p:cNvSpPr/>
            <p:nvPr/>
          </p:nvSpPr>
          <p:spPr>
            <a:xfrm>
              <a:off x="3594199" y="0"/>
              <a:ext cx="3327201" cy="3740234"/>
            </a:xfrm>
            <a:prstGeom prst="rect">
              <a:avLst/>
            </a:pr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CC9094-9213-B02C-83B8-4962F0EA0F76}"/>
                </a:ext>
              </a:extLst>
            </p:cNvPr>
            <p:cNvSpPr txBox="1"/>
            <p:nvPr/>
          </p:nvSpPr>
          <p:spPr>
            <a:xfrm>
              <a:off x="3594199" y="1496093"/>
              <a:ext cx="3327201" cy="22441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0" rIns="32865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0" i="0" kern="1200" baseline="0" dirty="0"/>
                <a:t>Mit </a:t>
              </a:r>
              <a:r>
                <a:rPr lang="en-US" sz="2600" b="0" i="0" kern="1200" baseline="0" dirty="0" err="1"/>
                <a:t>besseren</a:t>
              </a:r>
              <a:r>
                <a:rPr lang="en-US" sz="2600" b="0" i="0" kern="1200" baseline="0" dirty="0"/>
                <a:t> Daten: alle Tools </a:t>
              </a:r>
              <a:r>
                <a:rPr lang="en-US" sz="2600" b="0" i="0" kern="1200" baseline="0" dirty="0" err="1"/>
                <a:t>liefern</a:t>
              </a:r>
              <a:r>
                <a:rPr lang="en-US" sz="2600" b="0" i="0" kern="1200" baseline="0" dirty="0"/>
                <a:t> </a:t>
              </a:r>
              <a:r>
                <a:rPr lang="en-US" sz="2600" b="0" i="0" kern="1200" baseline="0" dirty="0" err="1"/>
                <a:t>Mehrwert</a:t>
              </a:r>
              <a:r>
                <a:rPr lang="en-US" sz="2600" b="0" i="0" kern="1200" baseline="0" dirty="0"/>
                <a:t> </a:t>
              </a:r>
              <a:endParaRPr lang="en-US" sz="2600" kern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1F45C4-6B2D-9C47-BE31-9530B1281058}"/>
              </a:ext>
            </a:extLst>
          </p:cNvPr>
          <p:cNvGrpSpPr/>
          <p:nvPr/>
        </p:nvGrpSpPr>
        <p:grpSpPr>
          <a:xfrm>
            <a:off x="8024954" y="2756818"/>
            <a:ext cx="3327201" cy="3740234"/>
            <a:chOff x="7187576" y="0"/>
            <a:chExt cx="3327201" cy="374023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A5B142-64EE-19B1-0265-4BC67315860F}"/>
                </a:ext>
              </a:extLst>
            </p:cNvPr>
            <p:cNvSpPr/>
            <p:nvPr/>
          </p:nvSpPr>
          <p:spPr>
            <a:xfrm>
              <a:off x="7187576" y="0"/>
              <a:ext cx="3327201" cy="3740234"/>
            </a:xfrm>
            <a:prstGeom prst="rect">
              <a:avLst/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F54123-1419-1B27-F313-2D4B43563E10}"/>
                </a:ext>
              </a:extLst>
            </p:cNvPr>
            <p:cNvSpPr txBox="1"/>
            <p:nvPr/>
          </p:nvSpPr>
          <p:spPr>
            <a:xfrm>
              <a:off x="7187576" y="1496093"/>
              <a:ext cx="3327201" cy="22441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0" rIns="328654" bIns="330200" numCol="1" spcCol="1270" anchor="t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0" i="0" kern="1200" baseline="0" dirty="0" err="1"/>
                <a:t>Nächster</a:t>
              </a:r>
              <a:r>
                <a:rPr lang="en-US" sz="2600" b="0" i="0" kern="1200" baseline="0" dirty="0"/>
                <a:t> Schritt: </a:t>
              </a:r>
              <a:r>
                <a:rPr lang="en-US" sz="2600" b="0" i="0" kern="1200" baseline="0" dirty="0" err="1"/>
                <a:t>Datenqualität</a:t>
              </a:r>
              <a:r>
                <a:rPr lang="en-US" sz="2600" b="0" i="0" kern="1200" baseline="0" dirty="0"/>
                <a:t> </a:t>
              </a:r>
              <a:r>
                <a:rPr lang="en-US" sz="2600" b="0" i="0" kern="1200" baseline="0" dirty="0" err="1"/>
                <a:t>verbessern</a:t>
              </a:r>
              <a:r>
                <a:rPr lang="en-US" sz="2600" b="0" i="0" kern="1200" baseline="0" dirty="0"/>
                <a:t> =&gt; </a:t>
              </a:r>
              <a:r>
                <a:rPr lang="en-US" sz="2600" b="0" i="0" kern="1200" baseline="0" dirty="0" err="1"/>
                <a:t>neue</a:t>
              </a:r>
              <a:r>
                <a:rPr lang="en-US" sz="2600" b="0" i="0" kern="1200" baseline="0" dirty="0"/>
                <a:t> </a:t>
              </a:r>
              <a:r>
                <a:rPr lang="en-US" sz="2600" dirty="0" err="1"/>
                <a:t>A</a:t>
              </a:r>
              <a:r>
                <a:rPr lang="en-US" sz="2600" b="0" i="0" kern="1200" baseline="0" dirty="0" err="1"/>
                <a:t>nalyseergebnisse</a:t>
              </a:r>
              <a:r>
                <a:rPr lang="en-US" sz="2600" b="0" i="0" kern="1200" baseline="0" dirty="0"/>
                <a:t> </a:t>
              </a:r>
              <a:endParaRPr lang="en-US" sz="2600" kern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36865F-4D50-8C15-6D61-B74A757810D8}"/>
              </a:ext>
            </a:extLst>
          </p:cNvPr>
          <p:cNvGrpSpPr/>
          <p:nvPr/>
        </p:nvGrpSpPr>
        <p:grpSpPr>
          <a:xfrm>
            <a:off x="4431577" y="2680953"/>
            <a:ext cx="3327201" cy="1496093"/>
            <a:chOff x="3594199" y="0"/>
            <a:chExt cx="3327201" cy="149609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92A2FD-7D4D-5EC8-8849-7773884B67F7}"/>
                </a:ext>
              </a:extLst>
            </p:cNvPr>
            <p:cNvSpPr/>
            <p:nvPr/>
          </p:nvSpPr>
          <p:spPr>
            <a:xfrm>
              <a:off x="3594199" y="0"/>
              <a:ext cx="3327201" cy="1496093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7450EE-7E40-7FDE-2822-995B03CACB1E}"/>
                </a:ext>
              </a:extLst>
            </p:cNvPr>
            <p:cNvSpPr txBox="1"/>
            <p:nvPr/>
          </p:nvSpPr>
          <p:spPr>
            <a:xfrm>
              <a:off x="3594199" y="0"/>
              <a:ext cx="3327201" cy="149609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165100" rIns="32865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/>
                <a:t>02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075DF2-5B52-10DB-C97B-CDDFD2856C0F}"/>
              </a:ext>
            </a:extLst>
          </p:cNvPr>
          <p:cNvGrpSpPr/>
          <p:nvPr/>
        </p:nvGrpSpPr>
        <p:grpSpPr>
          <a:xfrm>
            <a:off x="8024954" y="2680953"/>
            <a:ext cx="3327201" cy="1496093"/>
            <a:chOff x="7187576" y="0"/>
            <a:chExt cx="3327201" cy="149609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B3A8534-D063-C13B-9002-48C13E8509F2}"/>
                </a:ext>
              </a:extLst>
            </p:cNvPr>
            <p:cNvSpPr/>
            <p:nvPr/>
          </p:nvSpPr>
          <p:spPr>
            <a:xfrm>
              <a:off x="7187576" y="0"/>
              <a:ext cx="3327201" cy="1496093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479CE8-6AA8-4F5F-E0D9-171F98F520B0}"/>
                </a:ext>
              </a:extLst>
            </p:cNvPr>
            <p:cNvSpPr txBox="1"/>
            <p:nvPr/>
          </p:nvSpPr>
          <p:spPr>
            <a:xfrm>
              <a:off x="7187576" y="0"/>
              <a:ext cx="3327201" cy="149609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165100" rIns="32865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/>
                <a:t>03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4012FF-F619-56F8-E950-ED5AD55410F3}"/>
              </a:ext>
            </a:extLst>
          </p:cNvPr>
          <p:cNvGrpSpPr/>
          <p:nvPr/>
        </p:nvGrpSpPr>
        <p:grpSpPr>
          <a:xfrm>
            <a:off x="838199" y="2680953"/>
            <a:ext cx="3327201" cy="1496093"/>
            <a:chOff x="821" y="0"/>
            <a:chExt cx="3327201" cy="149609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FA29F5-554D-B22A-A713-92A63BC81090}"/>
                </a:ext>
              </a:extLst>
            </p:cNvPr>
            <p:cNvSpPr/>
            <p:nvPr/>
          </p:nvSpPr>
          <p:spPr>
            <a:xfrm>
              <a:off x="821" y="0"/>
              <a:ext cx="3327201" cy="1496093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99F071-41F3-CBF9-4F9B-38CD6A422C66}"/>
                </a:ext>
              </a:extLst>
            </p:cNvPr>
            <p:cNvSpPr txBox="1"/>
            <p:nvPr/>
          </p:nvSpPr>
          <p:spPr>
            <a:xfrm>
              <a:off x="821" y="0"/>
              <a:ext cx="3327201" cy="149609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28654" tIns="165100" rIns="32865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 dirty="0"/>
                <a:t>01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60B2F53-E58C-CEF4-6B67-D3A9F268F769}"/>
              </a:ext>
            </a:extLst>
          </p:cNvPr>
          <p:cNvSpPr/>
          <p:nvPr/>
        </p:nvSpPr>
        <p:spPr>
          <a:xfrm>
            <a:off x="6229088" y="2680953"/>
            <a:ext cx="3327201" cy="1496093"/>
          </a:xfrm>
          <a:prstGeom prst="rect">
            <a:avLst/>
          </a:pr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69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4E21-079A-EB0E-F446-B2476FD9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584990"/>
            <a:ext cx="11328400" cy="3157670"/>
          </a:xfrm>
          <a:solidFill>
            <a:srgbClr val="B8898A"/>
          </a:solidFill>
        </p:spPr>
        <p:txBody>
          <a:bodyPr>
            <a:no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Vielen</a:t>
            </a:r>
            <a:r>
              <a:rPr lang="en-US" sz="6600" dirty="0">
                <a:solidFill>
                  <a:schemeClr val="bg1"/>
                </a:solidFill>
              </a:rPr>
              <a:t> Dank für Eure </a:t>
            </a:r>
            <a:r>
              <a:rPr lang="en-US" sz="6600" dirty="0" err="1">
                <a:solidFill>
                  <a:schemeClr val="bg1"/>
                </a:solidFill>
              </a:rPr>
              <a:t>Aufmerksamkeit</a:t>
            </a:r>
            <a:r>
              <a:rPr lang="en-US" sz="6600" dirty="0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4395274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rgbClr val="312F30"/>
      </a:dk1>
      <a:lt1>
        <a:sysClr val="window" lastClr="FFFFFF"/>
      </a:lt1>
      <a:dk2>
        <a:srgbClr val="7F7F7F"/>
      </a:dk2>
      <a:lt2>
        <a:srgbClr val="DFDFD8"/>
      </a:lt2>
      <a:accent1>
        <a:srgbClr val="855832"/>
      </a:accent1>
      <a:accent2>
        <a:srgbClr val="433443"/>
      </a:accent2>
      <a:accent3>
        <a:srgbClr val="8B4672"/>
      </a:accent3>
      <a:accent4>
        <a:srgbClr val="E3C375"/>
      </a:accent4>
      <a:accent5>
        <a:srgbClr val="7054AA"/>
      </a:accent5>
      <a:accent6>
        <a:srgbClr val="EBA666"/>
      </a:accent6>
      <a:hlink>
        <a:srgbClr val="933E44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556</Words>
  <Application>Microsoft Office PowerPoint</Application>
  <PresentationFormat>Widescreen</PresentationFormat>
  <Paragraphs>143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Constantia</vt:lpstr>
      <vt:lpstr>Goudy Old Style</vt:lpstr>
      <vt:lpstr>Segoe UI Light</vt:lpstr>
      <vt:lpstr>Wingdings</vt:lpstr>
      <vt:lpstr>ArchwayVTI</vt:lpstr>
      <vt:lpstr>PowerPoint Presentation</vt:lpstr>
      <vt:lpstr>PowerPoint Presentation</vt:lpstr>
      <vt:lpstr>PowerPoint Presentation</vt:lpstr>
      <vt:lpstr>Methodischer Ansatz</vt:lpstr>
      <vt:lpstr>Analyse-Ergebnisse PowerBI (Demo)</vt:lpstr>
      <vt:lpstr>PowerPoint Presentation</vt:lpstr>
      <vt:lpstr>PowerPoint Presentation</vt:lpstr>
      <vt:lpstr>PowerPoint Presentation</vt:lpstr>
      <vt:lpstr>PowerPoint Presentation</vt:lpstr>
      <vt:lpstr>Datenprobleme &amp; Lösungen</vt:lpstr>
      <vt:lpstr>Fachliche Ergebnisse</vt:lpstr>
      <vt:lpstr>Lessons Learned</vt:lpstr>
      <vt:lpstr>Fazit &amp; Ausblick </vt:lpstr>
      <vt:lpstr>Vielen Dank für Eure Aufmerksamkeit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Richter</dc:creator>
  <cp:lastModifiedBy>Laura Richter</cp:lastModifiedBy>
  <cp:revision>44</cp:revision>
  <dcterms:created xsi:type="dcterms:W3CDTF">2025-09-29T08:59:59Z</dcterms:created>
  <dcterms:modified xsi:type="dcterms:W3CDTF">2025-11-10T13:30:23Z</dcterms:modified>
</cp:coreProperties>
</file>